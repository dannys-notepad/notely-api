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etropo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8C3F0A-D28B-45DB-8E44-15FA6457ED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NG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etropo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68000"/>
            <a:ext cx="442692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5152680" y="1368000"/>
            <a:ext cx="442692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/>
          </p:nvPr>
        </p:nvSpPr>
        <p:spPr>
          <a:xfrm>
            <a:off x="504000" y="3351600"/>
            <a:ext cx="442692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/>
          </p:nvPr>
        </p:nvSpPr>
        <p:spPr>
          <a:xfrm>
            <a:off x="5152680" y="3351600"/>
            <a:ext cx="442692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FDC9BA-63ED-4922-91F1-5C08A0B8E6B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NG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Metropo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68000"/>
            <a:ext cx="442692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52680" y="1368000"/>
            <a:ext cx="442692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504000" y="3351600"/>
            <a:ext cx="442692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1396B9-F52A-4663-BD09-5D78250B3B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NG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etropo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B69856-B4BE-400F-BF47-6F14E1816C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NG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etropo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NG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53AD7A-FC89-4998-BE81-7B5B532D0E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NG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3346" lnSpcReduction="20000"/>
          </a:bodyPr>
          <a:p>
            <a:pPr indent="0" algn="ctr">
              <a:buNone/>
            </a:pPr>
            <a:r>
              <a:rPr b="0" lang="en-NG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NG" sz="21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NG" sz="21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NG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NG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NG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NG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NG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NG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5328000"/>
            <a:ext cx="23482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NG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NG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NG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5328000"/>
            <a:ext cx="319500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NG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NG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NG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5328000"/>
            <a:ext cx="23482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NG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99D44E08-F854-4DFC-BA1C-C5C18263B917}" type="slidenum">
              <a:rPr b="0" lang="en-NG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NG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3300" spc="-1" strike="noStrike">
                <a:solidFill>
                  <a:srgbClr val="ffffff"/>
                </a:solidFill>
                <a:latin typeface="Arial"/>
              </a:rPr>
              <a:t>BD GROUP4 PROJECT</a:t>
            </a:r>
            <a:endParaRPr b="1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40000" y="1123920"/>
            <a:ext cx="9072000" cy="442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3200" spc="-1" strike="noStrike">
                <a:solidFill>
                  <a:srgbClr val="ffffff"/>
                </a:solidFill>
                <a:latin typeface="Arial"/>
              </a:rPr>
              <a:t>CONTRIBUTORS:</a:t>
            </a:r>
            <a:endParaRPr b="0" lang="en-NG" sz="32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buNone/>
            </a:pPr>
            <a:endParaRPr b="0" lang="en-NG" sz="3200" spc="-1" strike="noStrike">
              <a:solidFill>
                <a:srgbClr val="ffffff"/>
              </a:solidFill>
              <a:latin typeface="Arial"/>
            </a:endParaRPr>
          </a:p>
          <a:p>
            <a:pPr>
              <a:spcBef>
                <a:spcPts val="283"/>
              </a:spcBef>
              <a:spcAft>
                <a:spcPts val="567"/>
              </a:spcAft>
              <a:buClr>
                <a:srgbClr val="ffffff"/>
              </a:buClr>
              <a:buSzPct val="45000"/>
              <a:buFont typeface="DejaVu Sans"/>
              <a:buChar char="●"/>
            </a:pPr>
            <a:r>
              <a:rPr b="0" lang="en-NG" sz="32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Etim Daniel – BD26090106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50"/>
              </a:spcAft>
              <a:buClr>
                <a:srgbClr val="ffffff"/>
              </a:buClr>
              <a:buSzPct val="45000"/>
              <a:buFont typeface="DejaVu Sans"/>
              <a:buChar char="●"/>
            </a:pP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Kamolideen Gbenle – BD26090549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50"/>
              </a:spcAft>
              <a:buClr>
                <a:srgbClr val="ffffff"/>
              </a:buClr>
              <a:buSzPct val="45000"/>
              <a:buFont typeface="DejaVu Sans"/>
              <a:buChar char="●"/>
            </a:pP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Alpha Peace – BD26090310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1134"/>
              </a:spcAft>
              <a:buClr>
                <a:srgbClr val="ffffff"/>
              </a:buClr>
              <a:buSzPct val="45000"/>
              <a:buFont typeface="DejaVu Sans"/>
              <a:buChar char="●"/>
            </a:pP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Bashirat Abdulganiyu – BD26090703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50"/>
              </a:spcAft>
              <a:buClr>
                <a:srgbClr val="ffffff"/>
              </a:buClr>
              <a:buSzPct val="45000"/>
              <a:buFont typeface="DejaVu Sans"/>
              <a:buChar char="●"/>
            </a:pP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Momodu Unique Rekiya – BD26090061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  <a:p>
            <a:pPr>
              <a:spcAft>
                <a:spcPts val="850"/>
              </a:spcAft>
              <a:buClr>
                <a:srgbClr val="ffffff"/>
              </a:buClr>
              <a:buSzPct val="45000"/>
              <a:buFont typeface="DejaVu Sans"/>
              <a:buChar char="●"/>
            </a:pP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Alexander Amos – BD26090528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  <a:p>
            <a:pPr>
              <a:buClr>
                <a:srgbClr val="ffffff"/>
              </a:buClr>
              <a:buSzPct val="45000"/>
              <a:buFont typeface="DejaVu Sans"/>
              <a:buChar char="●"/>
            </a:pP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Shadreck William – BD26090712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3300" spc="-1" strike="noStrike">
                <a:solidFill>
                  <a:srgbClr val="ffffff"/>
                </a:solidFill>
                <a:latin typeface="Arial"/>
              </a:rPr>
              <a:t>BD GROUP4 PROJECT</a:t>
            </a:r>
            <a:endParaRPr b="1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3200" spc="-1" strike="noStrike">
                <a:solidFill>
                  <a:srgbClr val="ffffff"/>
                </a:solidFill>
                <a:latin typeface="Arial"/>
              </a:rPr>
              <a:t>CONTRIBUTORS:</a:t>
            </a:r>
            <a:endParaRPr b="0" lang="en-NG" sz="32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buNone/>
            </a:pPr>
            <a:endParaRPr b="0" lang="en-NG" sz="3200" spc="-1" strike="noStrike">
              <a:solidFill>
                <a:srgbClr val="ffffff"/>
              </a:solidFill>
              <a:latin typeface="Arial"/>
            </a:endParaRPr>
          </a:p>
          <a:p>
            <a:pPr>
              <a:spcBef>
                <a:spcPts val="283"/>
              </a:spcBef>
              <a:spcAft>
                <a:spcPts val="850"/>
              </a:spcAft>
              <a:buClr>
                <a:srgbClr val="ffffff"/>
              </a:buClr>
              <a:buSzPct val="45000"/>
              <a:buFont typeface="DejaVu Sans"/>
              <a:buChar char="●"/>
            </a:pPr>
            <a:r>
              <a:rPr b="0" lang="en-NG" sz="32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Favour – BD26090215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  <a:p>
            <a:pPr>
              <a:spcBef>
                <a:spcPts val="283"/>
              </a:spcBef>
              <a:spcAft>
                <a:spcPts val="850"/>
              </a:spcAft>
              <a:buClr>
                <a:srgbClr val="ffffff"/>
              </a:buClr>
              <a:buSzPct val="45000"/>
              <a:buFont typeface="DejaVu Sans"/>
              <a:buChar char="●"/>
            </a:pP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Williams Uwana – BD26090910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  <a:p>
            <a:pPr>
              <a:spcBef>
                <a:spcPts val="283"/>
              </a:spcBef>
              <a:spcAft>
                <a:spcPts val="850"/>
              </a:spcAft>
              <a:buClr>
                <a:srgbClr val="ffffff"/>
              </a:buClr>
              <a:buSzPct val="45000"/>
              <a:buFont typeface="DejaVu Sans"/>
              <a:buChar char="●"/>
            </a:pP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Daniel Nganga – BD26090508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  <a:p>
            <a:pPr>
              <a:spcBef>
                <a:spcPts val="283"/>
              </a:spcBef>
              <a:spcAft>
                <a:spcPts val="567"/>
              </a:spcAft>
              <a:buClr>
                <a:srgbClr val="ffffff"/>
              </a:buClr>
              <a:buSzPct val="45000"/>
              <a:buFont typeface="DejaVu Sans"/>
              <a:buChar char="●"/>
            </a:pP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Habib Yakubu - BD26090891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3300" spc="-1" strike="noStrike">
                <a:solidFill>
                  <a:srgbClr val="ffffff"/>
                </a:solidFill>
                <a:latin typeface="Arial"/>
              </a:rPr>
              <a:t>PROJECT</a:t>
            </a:r>
            <a:r>
              <a:rPr b="0" lang="en-NG" sz="33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en-NG" sz="3300" spc="-1" strike="noStrike">
                <a:solidFill>
                  <a:srgbClr val="ffffff"/>
                </a:solidFill>
                <a:latin typeface="Arial"/>
              </a:rPr>
              <a:t>OVERVIEW</a:t>
            </a:r>
            <a:endParaRPr b="0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13"/>
          </a:bodyPr>
          <a:p>
            <a:pPr marL="432000"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Notely is a lightweight,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scalable Note-Taking REST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API built as a capstone group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project on Node js and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Express by Group 4,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BeTechified. 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It allows users to create,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retrieve, update and delete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text notes. It is a full CRUD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(Create, Read, Update and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Delete) system API with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persistent storage.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Repositories : 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https//github.com/dannys-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notepad/notely-api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https://betechifiedproject-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4c.onrender.com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3300" spc="-1" strike="noStrike">
                <a:solidFill>
                  <a:srgbClr val="ffffff"/>
                </a:solidFill>
                <a:latin typeface="Arial"/>
              </a:rPr>
              <a:t>OBJECTIVE</a:t>
            </a:r>
            <a:endParaRPr b="1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616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To build a working backend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API that demonstrates :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RESTful API design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Structured, maintainable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code architecture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Data persistence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Automated testing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Team collaboration using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Git/GitHub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3300" spc="-1" strike="noStrike">
                <a:solidFill>
                  <a:srgbClr val="ffffff"/>
                </a:solidFill>
                <a:latin typeface="Arial"/>
              </a:rPr>
              <a:t>TECH</a:t>
            </a:r>
            <a:r>
              <a:rPr b="0" lang="en-NG" sz="33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en-NG" sz="3300" spc="-1" strike="noStrike">
                <a:solidFill>
                  <a:srgbClr val="ffffff"/>
                </a:solidFill>
                <a:latin typeface="Arial"/>
              </a:rPr>
              <a:t>STACK</a:t>
            </a:r>
            <a:endParaRPr b="0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8" name=""/>
          <p:cNvGraphicFramePr/>
          <p:nvPr/>
        </p:nvGraphicFramePr>
        <p:xfrm>
          <a:off x="504000" y="1260000"/>
          <a:ext cx="9071640" cy="3420000"/>
        </p:xfrm>
        <a:graphic>
          <a:graphicData uri="http://schemas.openxmlformats.org/drawingml/2006/table">
            <a:tbl>
              <a:tblPr/>
              <a:tblGrid>
                <a:gridCol w="4534920"/>
                <a:gridCol w="4537080"/>
              </a:tblGrid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1" lang="en-NG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            </a:t>
                      </a:r>
                      <a:r>
                        <a:rPr b="1" lang="en-NG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  <a:endParaRPr b="0" lang="en-NG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           </a:t>
                      </a:r>
                      <a:r>
                        <a:rPr b="1" lang="en-NG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  <a:endParaRPr b="0" lang="en-NG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Node js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Javascript runtime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36036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Express js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Web framework for building the API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36036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better-sqlite3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SQLite database driver (data persistence)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36036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dotenv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Loads environment variables (e.g PORT) from a .env file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36036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CORS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Handles Cross-Origin Resource Sharing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36036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helmet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Adds security-related HTTP headers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36036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Vitest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Testing framework used to write and run automated tests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35928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Postman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API clieny used for manual endpoint testing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NG" sz="3300" spc="-1" strike="noStrike">
                <a:solidFill>
                  <a:srgbClr val="ffffff"/>
                </a:solidFill>
                <a:latin typeface="Arial"/>
              </a:rPr>
              <a:t>Architecture – MVC Pattern</a:t>
            </a:r>
            <a:endParaRPr b="0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133"/>
          </a:bodyPr>
          <a:p>
            <a:pPr marL="432000"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The project follows the MVC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(Model-View-Controller)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architectural pattern, adapted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for an API (no “view” layer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since this is a backend-only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service returning JSON):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Model / Data layer – handles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how the data is stored and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retrieved (database +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repository)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Controller – contains the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logic for handling each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request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Routes – map incoming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HTTP requests to the correct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controller function.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This separation keeps each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part of the codebase focused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on a songle responsibility,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making the project easier for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multiple people to work on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sumultaneously without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conflicts.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NG" sz="3300" spc="-1" strike="noStrike">
                <a:solidFill>
                  <a:srgbClr val="ffffff"/>
                </a:solidFill>
                <a:latin typeface="Arial"/>
              </a:rPr>
              <a:t>ARCHITECTURE GOAL</a:t>
            </a:r>
            <a:endParaRPr b="0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3200" spc="-1" strike="noStrike">
                <a:solidFill>
                  <a:srgbClr val="ffffff"/>
                </a:solidFill>
                <a:latin typeface="Arial"/>
              </a:rPr>
              <a:t>Clean separation of concerns with predictable endpoint routing and robust JSON payload parsing.</a:t>
            </a:r>
            <a:endParaRPr b="0" lang="en-NG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2800" spc="-1" strike="noStrike">
                <a:solidFill>
                  <a:srgbClr val="ffffff"/>
                </a:solidFill>
                <a:latin typeface="Arial"/>
              </a:rPr>
              <a:t>DEVELOPMENT</a:t>
            </a:r>
            <a:r>
              <a:rPr b="0" lang="en-NG" sz="33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en-NG" sz="2800" spc="-1" strike="noStrike">
                <a:solidFill>
                  <a:srgbClr val="ffffff"/>
                </a:solidFill>
                <a:latin typeface="Arial"/>
              </a:rPr>
              <a:t>PROCESS</a:t>
            </a:r>
            <a:r>
              <a:rPr b="0" lang="en-NG" sz="33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65" lnSpcReduction="10000"/>
          </a:bodyPr>
          <a:p>
            <a:pPr marL="432000"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332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1.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Project scaffolding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created the starter folders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( controllers, middlewares,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routes, etc ) following the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MVC architecture.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332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2.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Package installation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installed Express, dotenv,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CORS, helmet and better-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sqlite3.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616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3.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Database &amp; repository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setup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created the SQLite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database connection and the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repository layer(note.repo.js)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containing the core data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functions.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332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4.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Repository documentation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– created noteRepo – api –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reference.md, documenting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the repository’s expose the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functions for the rest of the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team to reference while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building the controllers.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2800" spc="-1" strike="noStrike">
                <a:solidFill>
                  <a:srgbClr val="ffffff"/>
                </a:solidFill>
                <a:latin typeface="Arial"/>
              </a:rPr>
              <a:t>DEVELOPMENT</a:t>
            </a:r>
            <a:r>
              <a:rPr b="0" lang="en-NG" sz="33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en-NG" sz="2800" spc="-1" strike="noStrike">
                <a:solidFill>
                  <a:srgbClr val="ffffff"/>
                </a:solidFill>
                <a:latin typeface="Arial"/>
              </a:rPr>
              <a:t>PROCESS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332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5.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Repository testing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Wrote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automated tests to verify the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repository functions worked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correctly.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332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6.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Validation middleware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Built middleware to check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incoming request, ensuring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they included the correct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headers, body and required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data before being processed.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332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7.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GET route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Implemented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the route to fetch notes.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8.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DELETE route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Implemented  the route to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remove notes.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2800" spc="-1" strike="noStrike">
                <a:solidFill>
                  <a:srgbClr val="ffffff"/>
                </a:solidFill>
                <a:latin typeface="Arial"/>
              </a:rPr>
              <a:t>DEVELOPMENT</a:t>
            </a: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en-NG" sz="2800" spc="-1" strike="noStrike">
                <a:solidFill>
                  <a:srgbClr val="ffffff"/>
                </a:solidFill>
                <a:latin typeface="Arial"/>
              </a:rPr>
              <a:t>PROCESS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9.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Route testing (phase 1)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Wrote tests covering the GET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and DELETE routes.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10.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POST and PUT routes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implemented the routes for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creating and updating notes.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11.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Route testing (phase 2)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Wrote tests covering all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remaining routes.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12.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404 middleware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Implemented handling for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requests to routes that don’t 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exist.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2800" spc="-1" strike="noStrike">
                <a:solidFill>
                  <a:srgbClr val="ffffff"/>
                </a:solidFill>
                <a:latin typeface="Arial"/>
              </a:rPr>
              <a:t>DEVELOPMENT</a:t>
            </a:r>
            <a:r>
              <a:rPr b="0" lang="en-NG" sz="33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en-NG" sz="2800" spc="-1" strike="noStrike">
                <a:solidFill>
                  <a:srgbClr val="ffffff"/>
                </a:solidFill>
                <a:latin typeface="Arial"/>
              </a:rPr>
              <a:t>PROCESS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60"/>
              </a:spcAft>
              <a:buNone/>
            </a:pP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13.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Code cleanup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Reviewed and cleaned the codebase to eliminate errors and bugs.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14.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Final testing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Ran the full automated test suite (vitest) and manually verified endpoints using postman, confirming everything passed before considering to build stable.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15. </a:t>
            </a:r>
            <a:r>
              <a:rPr b="0" lang="en-NG" sz="2400" spc="-1" strike="noStrike" u="sng">
                <a:solidFill>
                  <a:srgbClr val="ffffff"/>
                </a:solidFill>
                <a:uFillTx/>
                <a:latin typeface="Arial"/>
              </a:rPr>
              <a:t>API documentation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– Created API.md after project completion, documenting the first finished API for anyone consuming or reviewing it.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2600" spc="-1" strike="noStrike">
                <a:solidFill>
                  <a:srgbClr val="ffffff"/>
                </a:solidFill>
                <a:latin typeface="Arial"/>
              </a:rPr>
              <a:t>API TESTING COVERAGE</a:t>
            </a:r>
            <a:endParaRPr b="1" lang="en-NG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68000"/>
            <a:ext cx="442692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49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    </a:t>
            </a:r>
            <a:r>
              <a:rPr b="1" lang="en-NG" sz="2400" spc="-1" strike="noStrike">
                <a:solidFill>
                  <a:srgbClr val="ffffff"/>
                </a:solidFill>
                <a:latin typeface="Arial"/>
              </a:rPr>
              <a:t>100% Pass rate.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49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Full CRUD endpoint verification using Postman automated suites.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5152680" y="1368000"/>
            <a:ext cx="442692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60"/>
              </a:spcAft>
              <a:buNone/>
            </a:pPr>
            <a:r>
              <a:rPr b="1" lang="en-NG" sz="2400" spc="-1" strike="noStrike">
                <a:solidFill>
                  <a:srgbClr val="ffffff"/>
                </a:solidFill>
                <a:latin typeface="Arial"/>
              </a:rPr>
              <a:t>Multi-scenario validation</a:t>
            </a:r>
            <a:endParaRPr b="1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All endpoints tested for expected JSON body responses and non – existent recordhandling (404).</a:t>
            </a:r>
            <a:endParaRPr b="1" lang="en-NG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504000" y="3351600"/>
            <a:ext cx="442692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628"/>
          </a:bodyPr>
          <a:p>
            <a:pPr marL="432000" indent="0">
              <a:spcAft>
                <a:spcPts val="1060"/>
              </a:spcAft>
              <a:buNone/>
            </a:pPr>
            <a:r>
              <a:rPr b="1" lang="en-NG" sz="2400" spc="-1" strike="noStrike">
                <a:solidFill>
                  <a:srgbClr val="ffffff"/>
                </a:solidFill>
                <a:latin typeface="Arial"/>
              </a:rPr>
              <a:t>Payload &amp; status checks</a:t>
            </a:r>
            <a:endParaRPr b="1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Validates payload requirements (400) and successful CRUD operations (200/201)</a:t>
            </a:r>
            <a:endParaRPr b="1" lang="en-NG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2200" spc="-1" strike="noStrike">
                <a:solidFill>
                  <a:srgbClr val="ffffff"/>
                </a:solidFill>
                <a:latin typeface="Arial"/>
              </a:rPr>
              <a:t>QUALITY ASSURANCE WORKFLOW</a:t>
            </a:r>
            <a:endParaRPr b="1" lang="en-NG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368000"/>
            <a:ext cx="442692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i="1" lang="en-NG" sz="2400" spc="-1" strike="noStrike">
                <a:solidFill>
                  <a:srgbClr val="ffffff"/>
                </a:solidFill>
                <a:latin typeface="Arial"/>
              </a:rPr>
              <a:t>Happy path validation</a:t>
            </a:r>
            <a:endParaRPr b="0" i="1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000" spc="-1" strike="noStrike">
                <a:solidFill>
                  <a:srgbClr val="ffffff"/>
                </a:solidFill>
                <a:latin typeface="Arial"/>
              </a:rPr>
              <a:t>Confirms correct response schemes and data persistence across create, read, update, and delete calls.</a:t>
            </a:r>
            <a:endParaRPr b="0" i="1" lang="en-NG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5152680" y="1368000"/>
            <a:ext cx="442692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i="1" lang="en-NG" sz="2400" spc="-1" strike="noStrike">
                <a:solidFill>
                  <a:srgbClr val="ffffff"/>
                </a:solidFill>
                <a:latin typeface="Arial"/>
              </a:rPr>
              <a:t>Postman Artifact Export</a:t>
            </a:r>
            <a:endParaRPr b="1" i="1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200" spc="-1" strike="noStrike">
                <a:solidFill>
                  <a:srgbClr val="ffffff"/>
                </a:solidFill>
                <a:latin typeface="Arial"/>
              </a:rPr>
              <a:t>Export Postman Collecton v2.1 into the postman/ repostory directory for team replication</a:t>
            </a:r>
            <a:endParaRPr b="1" i="1" lang="en-NG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/>
          </p:nvPr>
        </p:nvSpPr>
        <p:spPr>
          <a:xfrm>
            <a:off x="504000" y="3351600"/>
            <a:ext cx="442692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i="1" lang="en-NG" sz="2400" spc="-1" strike="noStrike">
                <a:solidFill>
                  <a:srgbClr val="ffffff"/>
                </a:solidFill>
                <a:latin typeface="Arial"/>
              </a:rPr>
              <a:t>Error &amp; Edge Handling</a:t>
            </a:r>
            <a:endParaRPr b="1" i="1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000" spc="-1" strike="noStrike">
                <a:solidFill>
                  <a:srgbClr val="ffffff"/>
                </a:solidFill>
                <a:latin typeface="Arial"/>
              </a:rPr>
              <a:t>Ensures invalid input payloada or missing resource Ids return predictable HTTP status codes.</a:t>
            </a:r>
            <a:endParaRPr b="1" i="1" lang="en-NG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/>
          </p:nvPr>
        </p:nvSpPr>
        <p:spPr>
          <a:xfrm>
            <a:off x="5152680" y="3351600"/>
            <a:ext cx="4426920" cy="181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i="1" lang="en-NG" sz="2400" spc="-1" strike="noStrike">
                <a:solidFill>
                  <a:srgbClr val="ffffff"/>
                </a:solidFill>
                <a:latin typeface="Arial"/>
              </a:rPr>
              <a:t>Environment Syncing</a:t>
            </a:r>
            <a:endParaRPr b="1" i="1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000" spc="-1" strike="noStrike">
                <a:solidFill>
                  <a:srgbClr val="ffffff"/>
                </a:solidFill>
                <a:latin typeface="Arial"/>
              </a:rPr>
              <a:t>Managed variable base URLs to easily run tests across local development environments.</a:t>
            </a:r>
            <a:endParaRPr b="1" i="1" lang="en-NG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2400" spc="-1" strike="noStrike">
                <a:solidFill>
                  <a:srgbClr val="ffffff"/>
                </a:solidFill>
                <a:latin typeface="Arial"/>
              </a:rPr>
              <a:t>API ENDPOINTS</a:t>
            </a:r>
            <a:endParaRPr b="1" lang="en-NG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51" name=""/>
          <p:cNvGraphicFramePr/>
          <p:nvPr/>
        </p:nvGraphicFramePr>
        <p:xfrm>
          <a:off x="569160" y="1844280"/>
          <a:ext cx="9071640" cy="3015720"/>
        </p:xfrm>
        <a:graphic>
          <a:graphicData uri="http://schemas.openxmlformats.org/drawingml/2006/table">
            <a:tbl>
              <a:tblPr/>
              <a:tblGrid>
                <a:gridCol w="3024000"/>
                <a:gridCol w="3024000"/>
                <a:gridCol w="3024000"/>
              </a:tblGrid>
              <a:tr h="50220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  </a:t>
                      </a:r>
                      <a:r>
                        <a:rPr b="0" lang="en-NG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  <a:endParaRPr b="0" lang="en-NG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</a:t>
                      </a:r>
                      <a:r>
                        <a:rPr b="0" lang="en-NG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Endpoint</a:t>
                      </a:r>
                      <a:endParaRPr b="0" lang="en-NG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</a:t>
                      </a:r>
                      <a:r>
                        <a:rPr b="0" lang="en-NG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  <a:endParaRPr b="0" lang="en-NG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50220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POST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/notes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Create a new note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50220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GET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/notes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Retrieve all notes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50220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GET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/notes/:id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Retrieve a single note by ID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50220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PUT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/notes/:id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Update an existing note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50472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DELETE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/notes/:id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NG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Delete a note</a:t>
                      </a:r>
                      <a:endParaRPr b="0" lang="en-NG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3300" spc="-1" strike="noStrike">
                <a:solidFill>
                  <a:srgbClr val="ffffff"/>
                </a:solidFill>
                <a:latin typeface="Arial"/>
              </a:rPr>
              <a:t>TESTING STRATEGY</a:t>
            </a:r>
            <a:endParaRPr b="1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68000" y="1080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13" lnSpcReduction="10000"/>
          </a:bodyPr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esting was carried out in two ways :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1. Automated tests (vitest) – covering 4 layers of the application separately: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Repository layer( noteRepo.test.js) – verifies database operations woek correctly in isolation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Controller layer (noteController.test.js) – Verifies request-handling logic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Route layer(noteRoute.test.js) – Verifies the full behaviour end – to – end.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NG" sz="2400" spc="-1" strike="noStrike">
                <a:solidFill>
                  <a:srgbClr val="ffffff"/>
                </a:solidFill>
                <a:latin typeface="Arial"/>
              </a:rPr>
              <a:t>Validation middleware (validation.middleware.test.js) – verifies bad/missing data is correctly rejected.</a:t>
            </a:r>
            <a:endParaRPr b="0" lang="en-NG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3300" spc="-1" strike="noStrike">
                <a:solidFill>
                  <a:srgbClr val="ffffff"/>
                </a:solidFill>
                <a:latin typeface="Arial"/>
              </a:rPr>
              <a:t>TESTING STRATEGY</a:t>
            </a:r>
            <a:endParaRPr b="1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2252520" y="1351440"/>
            <a:ext cx="5328000" cy="333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NG" sz="22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buNone/>
            </a:pPr>
            <a:r>
              <a:rPr b="0" lang="en-NG" sz="2200" spc="-1" strike="noStrike">
                <a:solidFill>
                  <a:srgbClr val="ffffff"/>
                </a:solidFill>
                <a:latin typeface="Arial"/>
              </a:rPr>
              <a:t>2</a:t>
            </a:r>
            <a:r>
              <a:rPr b="0" lang="en-NG" sz="2200" spc="-1" strike="noStrike">
                <a:solidFill>
                  <a:srgbClr val="ffffff"/>
                </a:solidFill>
                <a:latin typeface="Arial"/>
              </a:rPr>
              <a:t>. Manual testing (Postman) – used as an API client to manually send requests to each endpoint and confirm real – world behaviour alongside the automated tests.</a:t>
            </a:r>
            <a:endParaRPr b="0" lang="en-NG" sz="22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buNone/>
            </a:pPr>
            <a:r>
              <a:rPr b="0" lang="en-NG" sz="2200" spc="-1" strike="noStrike">
                <a:solidFill>
                  <a:srgbClr val="ffffff"/>
                </a:solidFill>
                <a:latin typeface="Arial"/>
              </a:rPr>
              <a:t>The combined approach ensures that both individual pieces of code work correctly ( automated tests) and that the API behaves as expected when used the way a real client would use it. (Postman).</a:t>
            </a:r>
            <a:endParaRPr b="0" lang="en-NG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3300" spc="-1" strike="noStrike">
                <a:solidFill>
                  <a:srgbClr val="ffffff"/>
                </a:solidFill>
                <a:latin typeface="Arial"/>
              </a:rPr>
              <a:t>DEPLOYMENT STATUS</a:t>
            </a:r>
            <a:endParaRPr b="1" lang="en-NG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2412000" y="1521360"/>
            <a:ext cx="5328000" cy="333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3200" spc="-1" strike="noStrike">
                <a:solidFill>
                  <a:srgbClr val="ffffff"/>
                </a:solidFill>
                <a:latin typeface="Arial"/>
              </a:rPr>
              <a:t>The project has not yet been deployed. It currently runs locally during development and testing.</a:t>
            </a:r>
            <a:endParaRPr b="0" lang="en-NG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NG" sz="2800" spc="-1" strike="noStrike">
                <a:solidFill>
                  <a:srgbClr val="ffffff"/>
                </a:solidFill>
                <a:latin typeface="Arial"/>
              </a:rPr>
              <a:t>TEAM COLLABORATION</a:t>
            </a:r>
            <a:endParaRPr b="1" lang="en-NG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NG" sz="2800" spc="-1" strike="noStrike">
                <a:solidFill>
                  <a:srgbClr val="ffffff"/>
                </a:solidFill>
                <a:latin typeface="Arial"/>
              </a:rPr>
              <a:t>The team used Git and GitHub for version control, with each contributor working on a separate branch before re merging changes via pull requests. A changelog is maintained in the README, where every contributor logs their name, ID and a summary of the changes they made , giving a transparent history of who built what.</a:t>
            </a:r>
            <a:endParaRPr b="0" lang="en-NG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2340000" y="261360"/>
            <a:ext cx="5328000" cy="333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NG" sz="3200" spc="-1" strike="noStrike">
                <a:solidFill>
                  <a:srgbClr val="ffffff"/>
                </a:solidFill>
                <a:latin typeface="Arial"/>
              </a:rPr>
              <a:t>Thank you for viewing the Group 4 presentation</a:t>
            </a:r>
            <a:r>
              <a:rPr b="0" lang="en-NG" sz="3200" spc="-1" strike="noStrike">
                <a:solidFill>
                  <a:srgbClr val="ffffff"/>
                </a:solidFill>
                <a:latin typeface="Arial"/>
              </a:rPr>
              <a:t>.</a:t>
            </a:r>
            <a:endParaRPr b="0" lang="en-NG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2026-09-30T10:20:44Z</dcterms:created>
  <dc:creator/>
  <dc:description/>
  <dc:language>en-NG</dc:language>
  <cp:lastModifiedBy/>
  <dcterms:modified xsi:type="dcterms:W3CDTF">2026-09-30T14:36:14Z</dcterms:modified>
  <cp:revision>2</cp:revision>
  <dc:subject/>
  <dc:title>Metropolis</dc:title>
</cp:coreProperties>
</file>