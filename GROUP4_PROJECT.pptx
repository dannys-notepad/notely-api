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svg" ContentType="image/svg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18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mediaAndTx" preserve="1">
  <p:cSld name="Metropol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B785483-3CA4-4744-956C-6623682900F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NG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etropol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2376000" y="216000"/>
            <a:ext cx="532800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endParaRPr b="0" lang="en-NG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504000" y="1368000"/>
            <a:ext cx="4426920" cy="181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Aft>
                <a:spcPts val="1060"/>
              </a:spcAft>
              <a:buNone/>
            </a:pP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5152680" y="1368000"/>
            <a:ext cx="4426920" cy="181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Aft>
                <a:spcPts val="1060"/>
              </a:spcAft>
              <a:buNone/>
            </a:pP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/>
          </p:nvPr>
        </p:nvSpPr>
        <p:spPr>
          <a:xfrm>
            <a:off x="504000" y="3351600"/>
            <a:ext cx="4426920" cy="181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Aft>
                <a:spcPts val="1060"/>
              </a:spcAft>
              <a:buNone/>
            </a:pP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/>
          </p:nvPr>
        </p:nvSpPr>
        <p:spPr>
          <a:xfrm>
            <a:off x="5152680" y="3351600"/>
            <a:ext cx="4426920" cy="181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Aft>
                <a:spcPts val="1060"/>
              </a:spcAft>
              <a:buNone/>
            </a:pP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6CCA67A-A5CE-498D-852D-89092A92EF8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NG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Metropol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2376000" y="216000"/>
            <a:ext cx="532800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endParaRPr b="0" lang="en-NG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504000" y="1368000"/>
            <a:ext cx="4426920" cy="181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Aft>
                <a:spcPts val="1060"/>
              </a:spcAft>
              <a:buNone/>
            </a:pP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5152680" y="1368000"/>
            <a:ext cx="4426920" cy="379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Aft>
                <a:spcPts val="1060"/>
              </a:spcAft>
              <a:buNone/>
            </a:pP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504000" y="3351600"/>
            <a:ext cx="4426920" cy="181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Aft>
                <a:spcPts val="1060"/>
              </a:spcAft>
              <a:buNone/>
            </a:pP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685F535-7F66-4020-AA10-0CEBBF440F9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NG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Metropol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2376000" y="216000"/>
            <a:ext cx="532800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endParaRPr b="0" lang="en-NG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504000" y="1368000"/>
            <a:ext cx="9072000" cy="379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Aft>
                <a:spcPts val="1060"/>
              </a:spcAft>
              <a:buNone/>
            </a:pP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C0EA193-8181-4793-9BA2-5104BCEE0C1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NG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etropol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2376000" y="216000"/>
            <a:ext cx="532800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endParaRPr b="0" lang="en-NG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subTitle"/>
          </p:nvPr>
        </p:nvSpPr>
        <p:spPr>
          <a:xfrm>
            <a:off x="504000" y="1368000"/>
            <a:ext cx="9072000" cy="379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NG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101F0F4-CB56-45F6-AED0-204D2E63095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NG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1.xml"/><Relationship Id="rId5" Type="http://schemas.openxmlformats.org/officeDocument/2006/relationships/slideLayout" Target="../slideLayouts/slideLayout2.xml"/><Relationship Id="rId6" Type="http://schemas.openxmlformats.org/officeDocument/2006/relationships/slideLayout" Target="../slideLayouts/slideLayout3.xml"/><Relationship Id="rId7" Type="http://schemas.openxmlformats.org/officeDocument/2006/relationships/slideLayout" Target="../slideLayouts/slideLayout4.xml"/><Relationship Id="rId8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0" y="0"/>
            <a:ext cx="10080000" cy="5670000"/>
          </a:xfrm>
          <a:prstGeom prst="rect">
            <a:avLst/>
          </a:prstGeom>
          <a:ln w="0">
            <a:noFill/>
          </a:ln>
        </p:spPr>
      </p:pic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2376000" y="216000"/>
            <a:ext cx="532800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93346" lnSpcReduction="20000"/>
          </a:bodyPr>
          <a:p>
            <a:pPr indent="0" algn="ctr">
              <a:buNone/>
            </a:pPr>
            <a:r>
              <a:rPr b="0" lang="en-NG" sz="33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NG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504000" y="1368000"/>
            <a:ext cx="9072000" cy="379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Aft>
                <a:spcPts val="106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Aft>
                <a:spcPts val="848"/>
              </a:spcAft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NG" sz="21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NG" sz="21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Aft>
                <a:spcPts val="635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NG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NG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Aft>
                <a:spcPts val="422"/>
              </a:spcAft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NG" sz="15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NG" sz="15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Aft>
                <a:spcPts val="21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NG" sz="15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NG" sz="15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Aft>
                <a:spcPts val="21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NG" sz="15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NG" sz="15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Aft>
                <a:spcPts val="21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NG" sz="15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NG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dt" idx="1"/>
          </p:nvPr>
        </p:nvSpPr>
        <p:spPr>
          <a:xfrm>
            <a:off x="504000" y="5328000"/>
            <a:ext cx="2348280" cy="22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NG" sz="1400" spc="-1" strike="noStrike">
                <a:solidFill>
                  <a:srgbClr val="ffffff"/>
                </a:solidFill>
                <a:latin typeface="Arial"/>
              </a:defRPr>
            </a:lvl1pPr>
          </a:lstStyle>
          <a:p>
            <a:pPr indent="0">
              <a:buNone/>
            </a:pPr>
            <a:r>
              <a:rPr b="0" lang="en-NG" sz="1400" spc="-1" strike="noStrike">
                <a:solidFill>
                  <a:srgbClr val="ffffff"/>
                </a:solidFill>
                <a:latin typeface="Arial"/>
              </a:rPr>
              <a:t>&lt;date/time&gt;</a:t>
            </a:r>
            <a:endParaRPr b="0" lang="en-NG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ftr" idx="2"/>
          </p:nvPr>
        </p:nvSpPr>
        <p:spPr>
          <a:xfrm>
            <a:off x="3447360" y="5328000"/>
            <a:ext cx="3195000" cy="22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en-NG" sz="1400" spc="-1" strike="noStrike">
                <a:solidFill>
                  <a:srgbClr val="ffffff"/>
                </a:solidFill>
                <a:latin typeface="Arial"/>
              </a:defRPr>
            </a:lvl1pPr>
          </a:lstStyle>
          <a:p>
            <a:pPr indent="0" algn="ctr">
              <a:buNone/>
            </a:pPr>
            <a:r>
              <a:rPr b="0" lang="en-NG" sz="1400" spc="-1" strike="noStrike">
                <a:solidFill>
                  <a:srgbClr val="ffffff"/>
                </a:solidFill>
                <a:latin typeface="Arial"/>
              </a:rPr>
              <a:t>&lt;footer&gt;</a:t>
            </a:r>
            <a:endParaRPr b="0" lang="en-NG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PlaceHolder 5"/>
          <p:cNvSpPr>
            <a:spLocks noGrp="1"/>
          </p:cNvSpPr>
          <p:nvPr>
            <p:ph type="sldNum" idx="3"/>
          </p:nvPr>
        </p:nvSpPr>
        <p:spPr>
          <a:xfrm>
            <a:off x="7227360" y="5328000"/>
            <a:ext cx="2348280" cy="22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NG" sz="1400" spc="-1" strike="noStrike">
                <a:solidFill>
                  <a:srgbClr val="ffffff"/>
                </a:solidFill>
                <a:latin typeface="Arial"/>
              </a:defRPr>
            </a:lvl1pPr>
          </a:lstStyle>
          <a:p>
            <a:pPr indent="0" algn="r">
              <a:buNone/>
            </a:pPr>
            <a:fld id="{368D1E63-B3C1-43B8-BFB6-FCD7E3B2E4B8}" type="slidenum">
              <a:rPr b="0" lang="en-NG" sz="1400" spc="-1" strike="noStrike">
                <a:solidFill>
                  <a:srgbClr val="ffffff"/>
                </a:solidFill>
                <a:latin typeface="Arial"/>
              </a:rPr>
              <a:t>&lt;number&gt;</a:t>
            </a:fld>
            <a:endParaRPr b="0" lang="en-NG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  <p:sldLayoutId id="2147483650" r:id="rId5"/>
    <p:sldLayoutId id="2147483651" r:id="rId6"/>
    <p:sldLayoutId id="2147483652" r:id="rId7"/>
    <p:sldLayoutId id="2147483653" r:id="rId8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2376000" y="216000"/>
            <a:ext cx="532800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1" lang="en-NG" sz="3300" spc="-1" strike="noStrike">
                <a:solidFill>
                  <a:srgbClr val="ffffff"/>
                </a:solidFill>
                <a:latin typeface="Arial"/>
              </a:rPr>
              <a:t>BD GROUP4 PROJECT</a:t>
            </a:r>
            <a:endParaRPr b="1" lang="en-NG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540000" y="1123920"/>
            <a:ext cx="9072000" cy="442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NG" sz="3200" spc="-1" strike="noStrike">
                <a:solidFill>
                  <a:srgbClr val="ffffff"/>
                </a:solidFill>
                <a:latin typeface="Arial"/>
              </a:rPr>
              <a:t>CONTRIBUTORS:</a:t>
            </a:r>
            <a:endParaRPr b="0" lang="en-NG" sz="3200" spc="-1" strike="noStrike">
              <a:solidFill>
                <a:srgbClr val="ffffff"/>
              </a:solidFill>
              <a:latin typeface="Arial"/>
            </a:endParaRPr>
          </a:p>
          <a:p>
            <a:pPr indent="0" algn="ctr">
              <a:buNone/>
            </a:pPr>
            <a:endParaRPr b="0" lang="en-NG" sz="3200" spc="-1" strike="noStrike">
              <a:solidFill>
                <a:srgbClr val="ffffff"/>
              </a:solidFill>
              <a:latin typeface="Arial"/>
            </a:endParaRPr>
          </a:p>
          <a:p>
            <a:pPr>
              <a:spcBef>
                <a:spcPts val="283"/>
              </a:spcBef>
              <a:spcAft>
                <a:spcPts val="567"/>
              </a:spcAft>
              <a:buClr>
                <a:srgbClr val="ffffff"/>
              </a:buClr>
              <a:buSzPct val="45000"/>
              <a:buFont typeface="DejaVu Sans"/>
              <a:buChar char="●"/>
            </a:pPr>
            <a:r>
              <a:rPr b="0" lang="en-NG" sz="32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en-NG" sz="2800" spc="-1" strike="noStrike">
                <a:solidFill>
                  <a:srgbClr val="ffffff"/>
                </a:solidFill>
                <a:latin typeface="Arial"/>
              </a:rPr>
              <a:t>Etim Daniel – BD26090106</a:t>
            </a:r>
            <a:endParaRPr b="0" lang="en-NG" sz="2800" spc="-1" strike="noStrike">
              <a:solidFill>
                <a:srgbClr val="ffffff"/>
              </a:solidFill>
              <a:latin typeface="Arial"/>
            </a:endParaRPr>
          </a:p>
          <a:p>
            <a:pPr>
              <a:spcAft>
                <a:spcPts val="850"/>
              </a:spcAft>
              <a:buClr>
                <a:srgbClr val="ffffff"/>
              </a:buClr>
              <a:buSzPct val="45000"/>
              <a:buFont typeface="DejaVu Sans"/>
              <a:buChar char="●"/>
            </a:pPr>
            <a:r>
              <a:rPr b="0" lang="en-NG" sz="28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en-NG" sz="2800" spc="-1" strike="noStrike">
                <a:solidFill>
                  <a:srgbClr val="ffffff"/>
                </a:solidFill>
                <a:latin typeface="Arial"/>
              </a:rPr>
              <a:t>Kamolideen Gbenle – BD26090549</a:t>
            </a:r>
            <a:endParaRPr b="0" lang="en-NG" sz="2800" spc="-1" strike="noStrike">
              <a:solidFill>
                <a:srgbClr val="ffffff"/>
              </a:solidFill>
              <a:latin typeface="Arial"/>
            </a:endParaRPr>
          </a:p>
          <a:p>
            <a:pPr>
              <a:spcAft>
                <a:spcPts val="850"/>
              </a:spcAft>
              <a:buClr>
                <a:srgbClr val="ffffff"/>
              </a:buClr>
              <a:buSzPct val="45000"/>
              <a:buFont typeface="DejaVu Sans"/>
              <a:buChar char="●"/>
            </a:pPr>
            <a:r>
              <a:rPr b="0" lang="en-NG" sz="28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en-NG" sz="2800" spc="-1" strike="noStrike">
                <a:solidFill>
                  <a:srgbClr val="ffffff"/>
                </a:solidFill>
                <a:latin typeface="Arial"/>
              </a:rPr>
              <a:t>Alpha Peace – BD26090310</a:t>
            </a:r>
            <a:endParaRPr b="0" lang="en-NG" sz="2800" spc="-1" strike="noStrike">
              <a:solidFill>
                <a:srgbClr val="ffffff"/>
              </a:solidFill>
              <a:latin typeface="Arial"/>
            </a:endParaRPr>
          </a:p>
          <a:p>
            <a:pPr>
              <a:spcAft>
                <a:spcPts val="1134"/>
              </a:spcAft>
              <a:buClr>
                <a:srgbClr val="ffffff"/>
              </a:buClr>
              <a:buSzPct val="45000"/>
              <a:buFont typeface="DejaVu Sans"/>
              <a:buChar char="●"/>
            </a:pPr>
            <a:r>
              <a:rPr b="0" lang="en-NG" sz="28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en-NG" sz="2800" spc="-1" strike="noStrike">
                <a:solidFill>
                  <a:srgbClr val="ffffff"/>
                </a:solidFill>
                <a:latin typeface="Arial"/>
              </a:rPr>
              <a:t>Bashirat Abdulganiyu – BD26090703</a:t>
            </a:r>
            <a:endParaRPr b="0" lang="en-NG" sz="2800" spc="-1" strike="noStrike">
              <a:solidFill>
                <a:srgbClr val="ffffff"/>
              </a:solidFill>
              <a:latin typeface="Arial"/>
            </a:endParaRPr>
          </a:p>
          <a:p>
            <a:pPr>
              <a:spcAft>
                <a:spcPts val="850"/>
              </a:spcAft>
              <a:buClr>
                <a:srgbClr val="ffffff"/>
              </a:buClr>
              <a:buSzPct val="45000"/>
              <a:buFont typeface="DejaVu Sans"/>
              <a:buChar char="●"/>
            </a:pPr>
            <a:r>
              <a:rPr b="0" lang="en-NG" sz="28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en-NG" sz="2800" spc="-1" strike="noStrike">
                <a:solidFill>
                  <a:srgbClr val="ffffff"/>
                </a:solidFill>
                <a:latin typeface="Arial"/>
              </a:rPr>
              <a:t>Momodu Unique Rekiya – BD26090061</a:t>
            </a:r>
            <a:endParaRPr b="0" lang="en-NG" sz="2800" spc="-1" strike="noStrike">
              <a:solidFill>
                <a:srgbClr val="ffffff"/>
              </a:solidFill>
              <a:latin typeface="Arial"/>
            </a:endParaRPr>
          </a:p>
          <a:p>
            <a:pPr>
              <a:spcAft>
                <a:spcPts val="850"/>
              </a:spcAft>
              <a:buClr>
                <a:srgbClr val="ffffff"/>
              </a:buClr>
              <a:buSzPct val="45000"/>
              <a:buFont typeface="DejaVu Sans"/>
              <a:buChar char="●"/>
            </a:pPr>
            <a:r>
              <a:rPr b="0" lang="en-NG" sz="28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en-NG" sz="2800" spc="-1" strike="noStrike">
                <a:solidFill>
                  <a:srgbClr val="ffffff"/>
                </a:solidFill>
                <a:latin typeface="Arial"/>
              </a:rPr>
              <a:t>Alexander Amos – BD26090528</a:t>
            </a:r>
            <a:endParaRPr b="0" lang="en-NG" sz="2800" spc="-1" strike="noStrike">
              <a:solidFill>
                <a:srgbClr val="ffffff"/>
              </a:solidFill>
              <a:latin typeface="Arial"/>
            </a:endParaRPr>
          </a:p>
          <a:p>
            <a:pPr>
              <a:buClr>
                <a:srgbClr val="ffffff"/>
              </a:buClr>
              <a:buSzPct val="45000"/>
              <a:buFont typeface="DejaVu Sans"/>
              <a:buChar char="●"/>
            </a:pPr>
            <a:r>
              <a:rPr b="0" lang="en-NG" sz="28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en-NG" sz="2800" spc="-1" strike="noStrike">
                <a:solidFill>
                  <a:srgbClr val="ffffff"/>
                </a:solidFill>
                <a:latin typeface="Arial"/>
              </a:rPr>
              <a:t>Shadreck William – BD26090712</a:t>
            </a:r>
            <a:endParaRPr b="0" lang="en-NG" sz="2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2376000" y="216000"/>
            <a:ext cx="532800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1" lang="en-NG" sz="3300" spc="-1" strike="noStrike">
                <a:solidFill>
                  <a:srgbClr val="ffffff"/>
                </a:solidFill>
                <a:latin typeface="Arial"/>
              </a:rPr>
              <a:t>BD GROUP4 PROJECT</a:t>
            </a:r>
            <a:endParaRPr b="1" lang="en-NG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subTitle"/>
          </p:nvPr>
        </p:nvSpPr>
        <p:spPr>
          <a:xfrm>
            <a:off x="540000" y="1177920"/>
            <a:ext cx="9072000" cy="432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NG" sz="3200" spc="-1" strike="noStrike">
                <a:solidFill>
                  <a:srgbClr val="ffffff"/>
                </a:solidFill>
                <a:latin typeface="Arial"/>
              </a:rPr>
              <a:t>CONTRIBUTORS:</a:t>
            </a:r>
            <a:endParaRPr b="0" lang="en-NG" sz="3200" spc="-1" strike="noStrike">
              <a:solidFill>
                <a:srgbClr val="ffffff"/>
              </a:solidFill>
              <a:latin typeface="Arial"/>
            </a:endParaRPr>
          </a:p>
          <a:p>
            <a:pPr indent="0" algn="ctr">
              <a:buNone/>
            </a:pPr>
            <a:endParaRPr b="0" lang="en-NG" sz="3200" spc="-1" strike="noStrike">
              <a:solidFill>
                <a:srgbClr val="ffffff"/>
              </a:solidFill>
              <a:latin typeface="Arial"/>
            </a:endParaRPr>
          </a:p>
          <a:p>
            <a:pPr>
              <a:spcBef>
                <a:spcPts val="283"/>
              </a:spcBef>
              <a:spcAft>
                <a:spcPts val="850"/>
              </a:spcAft>
              <a:buClr>
                <a:srgbClr val="ffffff"/>
              </a:buClr>
              <a:buSzPct val="45000"/>
              <a:buFont typeface="DejaVu Sans"/>
              <a:buChar char="●"/>
            </a:pPr>
            <a:r>
              <a:rPr b="0" lang="en-NG" sz="32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en-NG" sz="2800" spc="-1" strike="noStrike">
                <a:solidFill>
                  <a:srgbClr val="ffffff"/>
                </a:solidFill>
                <a:latin typeface="Arial"/>
              </a:rPr>
              <a:t>Favour – BD26090215</a:t>
            </a:r>
            <a:endParaRPr b="0" lang="en-NG" sz="2800" spc="-1" strike="noStrike">
              <a:solidFill>
                <a:srgbClr val="ffffff"/>
              </a:solidFill>
              <a:latin typeface="Arial"/>
            </a:endParaRPr>
          </a:p>
          <a:p>
            <a:pPr>
              <a:spcBef>
                <a:spcPts val="283"/>
              </a:spcBef>
              <a:spcAft>
                <a:spcPts val="850"/>
              </a:spcAft>
              <a:buClr>
                <a:srgbClr val="ffffff"/>
              </a:buClr>
              <a:buSzPct val="45000"/>
              <a:buFont typeface="DejaVu Sans"/>
              <a:buChar char="●"/>
            </a:pPr>
            <a:r>
              <a:rPr b="0" lang="en-NG" sz="28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en-NG" sz="2800" spc="-1" strike="noStrike">
                <a:solidFill>
                  <a:srgbClr val="ffffff"/>
                </a:solidFill>
                <a:latin typeface="Arial"/>
              </a:rPr>
              <a:t>Williams Uwana – BD26090910</a:t>
            </a:r>
            <a:endParaRPr b="0" lang="en-NG" sz="2800" spc="-1" strike="noStrike">
              <a:solidFill>
                <a:srgbClr val="ffffff"/>
              </a:solidFill>
              <a:latin typeface="Arial"/>
            </a:endParaRPr>
          </a:p>
          <a:p>
            <a:pPr>
              <a:spcBef>
                <a:spcPts val="283"/>
              </a:spcBef>
              <a:spcAft>
                <a:spcPts val="850"/>
              </a:spcAft>
              <a:buClr>
                <a:srgbClr val="ffffff"/>
              </a:buClr>
              <a:buSzPct val="45000"/>
              <a:buFont typeface="DejaVu Sans"/>
              <a:buChar char="●"/>
            </a:pPr>
            <a:r>
              <a:rPr b="0" lang="en-NG" sz="28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en-NG" sz="2800" spc="-1" strike="noStrike">
                <a:solidFill>
                  <a:srgbClr val="ffffff"/>
                </a:solidFill>
                <a:latin typeface="Arial"/>
              </a:rPr>
              <a:t>Daniel Nganga – BD26090508</a:t>
            </a:r>
            <a:endParaRPr b="0" lang="en-NG" sz="2800" spc="-1" strike="noStrike">
              <a:solidFill>
                <a:srgbClr val="ffffff"/>
              </a:solidFill>
              <a:latin typeface="Arial"/>
            </a:endParaRPr>
          </a:p>
          <a:p>
            <a:pPr>
              <a:spcBef>
                <a:spcPts val="283"/>
              </a:spcBef>
              <a:spcAft>
                <a:spcPts val="567"/>
              </a:spcAft>
              <a:buClr>
                <a:srgbClr val="ffffff"/>
              </a:buClr>
              <a:buSzPct val="45000"/>
              <a:buFont typeface="DejaVu Sans"/>
              <a:buChar char="●"/>
            </a:pPr>
            <a:r>
              <a:rPr b="0" lang="en-NG" sz="28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en-NG" sz="2800" spc="-1" strike="noStrike">
                <a:solidFill>
                  <a:srgbClr val="ffffff"/>
                </a:solidFill>
                <a:latin typeface="Arial"/>
              </a:rPr>
              <a:t>Habib Yakubu – BD26090891</a:t>
            </a:r>
            <a:endParaRPr b="0" lang="en-NG" sz="2800" spc="-1" strike="noStrike">
              <a:solidFill>
                <a:srgbClr val="ffffff"/>
              </a:solidFill>
              <a:latin typeface="Arial"/>
            </a:endParaRPr>
          </a:p>
          <a:p>
            <a:pPr>
              <a:spcBef>
                <a:spcPts val="283"/>
              </a:spcBef>
              <a:spcAft>
                <a:spcPts val="567"/>
              </a:spcAft>
              <a:buClr>
                <a:srgbClr val="ffffff"/>
              </a:buClr>
              <a:buSzPct val="45000"/>
              <a:buFont typeface="DejaVu Sans"/>
              <a:buChar char="●"/>
            </a:pPr>
            <a:r>
              <a:rPr b="0" lang="en-NG" sz="28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en-NG" sz="2800" spc="-1" strike="noStrike">
                <a:solidFill>
                  <a:srgbClr val="ffffff"/>
                </a:solidFill>
                <a:latin typeface="Arial"/>
              </a:rPr>
              <a:t>Chiemelie Chiadi – BD26090389</a:t>
            </a:r>
            <a:endParaRPr b="0" lang="en-NG" sz="2800" spc="-1" strike="noStrike">
              <a:solidFill>
                <a:srgbClr val="ffffff"/>
              </a:solidFill>
              <a:latin typeface="Arial"/>
            </a:endParaRPr>
          </a:p>
          <a:p>
            <a:pPr>
              <a:spcBef>
                <a:spcPts val="283"/>
              </a:spcBef>
              <a:spcAft>
                <a:spcPts val="567"/>
              </a:spcAft>
              <a:buClr>
                <a:srgbClr val="ffffff"/>
              </a:buClr>
              <a:buSzPct val="45000"/>
              <a:buFont typeface="DejaVu Sans"/>
              <a:buChar char="●"/>
            </a:pPr>
            <a:r>
              <a:rPr b="0" lang="en-NG" sz="28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en-NG" sz="2800" spc="-1" strike="noStrike">
                <a:solidFill>
                  <a:srgbClr val="ffffff"/>
                </a:solidFill>
                <a:latin typeface="Arial"/>
              </a:rPr>
              <a:t>Chizurum – BD26090267</a:t>
            </a:r>
            <a:endParaRPr b="0" lang="en-NG" sz="2800" spc="-1" strike="noStrike">
              <a:solidFill>
                <a:srgbClr val="ffffff"/>
              </a:solidFill>
              <a:latin typeface="Arial"/>
            </a:endParaRPr>
          </a:p>
          <a:p>
            <a:pPr>
              <a:spcBef>
                <a:spcPts val="283"/>
              </a:spcBef>
              <a:spcAft>
                <a:spcPts val="567"/>
              </a:spcAft>
              <a:buClr>
                <a:srgbClr val="ffffff"/>
              </a:buClr>
              <a:buSzPct val="45000"/>
              <a:buFont typeface="DejaVu Sans"/>
              <a:buChar char="●"/>
            </a:pPr>
            <a:r>
              <a:rPr b="0" lang="en-NG" sz="28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en-NG" sz="2800" spc="-1" strike="noStrike">
                <a:solidFill>
                  <a:srgbClr val="ffffff"/>
                </a:solidFill>
                <a:latin typeface="Arial"/>
              </a:rPr>
              <a:t>Laureen - BD26090747</a:t>
            </a:r>
            <a:endParaRPr b="0" lang="en-NG" sz="2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2376000" y="216000"/>
            <a:ext cx="532800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1" lang="en-NG" sz="3300" spc="-1" strike="noStrike">
                <a:solidFill>
                  <a:srgbClr val="ffffff"/>
                </a:solidFill>
                <a:latin typeface="Arial"/>
              </a:rPr>
              <a:t>PROJECT</a:t>
            </a:r>
            <a:r>
              <a:rPr b="0" lang="en-NG" sz="33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1" lang="en-NG" sz="3300" spc="-1" strike="noStrike">
                <a:solidFill>
                  <a:srgbClr val="ffffff"/>
                </a:solidFill>
                <a:latin typeface="Arial"/>
              </a:rPr>
              <a:t>OVERVIEW</a:t>
            </a:r>
            <a:endParaRPr b="0" lang="en-NG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504000" y="1368000"/>
            <a:ext cx="9072000" cy="379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713"/>
          </a:bodyPr>
          <a:p>
            <a:pPr marL="432000" indent="0">
              <a:spcAft>
                <a:spcPts val="1060"/>
              </a:spcAft>
              <a:buNone/>
            </a:pP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0">
              <a:spcAft>
                <a:spcPts val="1060"/>
              </a:spcAft>
              <a:buNone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Notely is a lightweight, 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scalable Note-Taking REST 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API built as a capstone group 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project on Node js and 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Express by Group 4, 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BeTechified. 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0">
              <a:spcAft>
                <a:spcPts val="1060"/>
              </a:spcAft>
              <a:buNone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It allows users to create, 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retrieve, update and delete 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text notes. It is a full CRUD 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(Create, Read, Update and 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Delete) system API with 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persistent storage.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0">
              <a:spcAft>
                <a:spcPts val="1060"/>
              </a:spcAft>
              <a:buNone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Repositories : 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-324000">
              <a:spcAft>
                <a:spcPts val="106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https//github.com/dannys-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notepad/notely-api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-324000">
              <a:spcAft>
                <a:spcPts val="106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https://betechifiedproject-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4c.onrender.com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0">
              <a:spcAft>
                <a:spcPts val="1060"/>
              </a:spcAft>
              <a:buNone/>
            </a:pP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0">
              <a:spcAft>
                <a:spcPts val="1060"/>
              </a:spcAft>
              <a:buNone/>
            </a:pP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2376000" y="216000"/>
            <a:ext cx="532800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1" lang="en-NG" sz="3300" spc="-1" strike="noStrike">
                <a:solidFill>
                  <a:srgbClr val="ffffff"/>
                </a:solidFill>
                <a:latin typeface="Arial"/>
              </a:rPr>
              <a:t>OBJECTIVE</a:t>
            </a:r>
            <a:endParaRPr b="1" lang="en-NG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504000" y="1368000"/>
            <a:ext cx="9072000" cy="379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0">
              <a:spcAft>
                <a:spcPts val="1060"/>
              </a:spcAft>
              <a:buNone/>
            </a:pP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0">
              <a:spcAft>
                <a:spcPts val="1616"/>
              </a:spcAft>
              <a:buNone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To build a working backend API that demonstrates :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-324000">
              <a:spcAft>
                <a:spcPts val="106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RESTful API design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-324000">
              <a:spcAft>
                <a:spcPts val="106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Structured, maintainable code architecture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-324000">
              <a:spcAft>
                <a:spcPts val="106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Data persistence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-324000">
              <a:spcAft>
                <a:spcPts val="106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Automated testing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-324000">
              <a:spcAft>
                <a:spcPts val="106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Team collaboration using Git/GitHub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2376000" y="216000"/>
            <a:ext cx="532800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1" lang="en-NG" sz="3300" spc="-1" strike="noStrike">
                <a:solidFill>
                  <a:srgbClr val="ffffff"/>
                </a:solidFill>
                <a:latin typeface="Arial"/>
              </a:rPr>
              <a:t>TECH</a:t>
            </a:r>
            <a:r>
              <a:rPr b="0" lang="en-NG" sz="33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1" lang="en-NG" sz="3300" spc="-1" strike="noStrike">
                <a:solidFill>
                  <a:srgbClr val="ffffff"/>
                </a:solidFill>
                <a:latin typeface="Arial"/>
              </a:rPr>
              <a:t>STACK</a:t>
            </a:r>
            <a:endParaRPr b="0" lang="en-NG" sz="33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28" name=""/>
          <p:cNvGraphicFramePr/>
          <p:nvPr/>
        </p:nvGraphicFramePr>
        <p:xfrm>
          <a:off x="504000" y="1260000"/>
          <a:ext cx="9071640" cy="3420000"/>
        </p:xfrm>
        <a:graphic>
          <a:graphicData uri="http://schemas.openxmlformats.org/drawingml/2006/table">
            <a:tbl>
              <a:tblPr/>
              <a:tblGrid>
                <a:gridCol w="4534920"/>
                <a:gridCol w="4537080"/>
              </a:tblGrid>
              <a:tr h="328320"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1" lang="en-NG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                  </a:t>
                      </a:r>
                      <a:r>
                        <a:rPr b="1" lang="en-NG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TOOL</a:t>
                      </a:r>
                      <a:endParaRPr b="0" lang="en-NG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5983b0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                 </a:t>
                      </a:r>
                      <a:r>
                        <a:rPr b="1" lang="en-NG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PURPOSE</a:t>
                      </a:r>
                      <a:endParaRPr b="0" lang="en-NG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5983b0"/>
                    </a:solidFill>
                  </a:tcPr>
                </a:tc>
              </a:tr>
              <a:tr h="328320"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Node js</a:t>
                      </a:r>
                      <a:endParaRPr b="0" lang="en-NG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Javascript runtime</a:t>
                      </a:r>
                      <a:endParaRPr b="0" lang="en-NG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</a:tr>
              <a:tr h="360360"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Express js</a:t>
                      </a:r>
                      <a:endParaRPr b="0" lang="en-NG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6e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Web framework for building the API</a:t>
                      </a:r>
                      <a:endParaRPr b="0" lang="en-NG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6ef"/>
                    </a:solidFill>
                  </a:tcPr>
                </a:tc>
              </a:tr>
              <a:tr h="360360"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better-sqlite3</a:t>
                      </a:r>
                      <a:endParaRPr b="0" lang="en-NG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SQLite database driver (data persistence)</a:t>
                      </a:r>
                      <a:endParaRPr b="0" lang="en-NG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</a:tr>
              <a:tr h="360360"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dotenv</a:t>
                      </a:r>
                      <a:endParaRPr b="0" lang="en-NG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6e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Loads environment variables (e.g PORT) from a .env file</a:t>
                      </a:r>
                      <a:endParaRPr b="0" lang="en-NG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6ef"/>
                    </a:solidFill>
                  </a:tcPr>
                </a:tc>
              </a:tr>
              <a:tr h="360360"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CORS</a:t>
                      </a:r>
                      <a:endParaRPr b="0" lang="en-NG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Handles Cross-Origin Resource Sharing</a:t>
                      </a:r>
                      <a:endParaRPr b="0" lang="en-NG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</a:tr>
              <a:tr h="360360"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helmet</a:t>
                      </a:r>
                      <a:endParaRPr b="0" lang="en-NG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6e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Adds security-related HTTP headers</a:t>
                      </a:r>
                      <a:endParaRPr b="0" lang="en-NG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6ef"/>
                    </a:solidFill>
                  </a:tcPr>
                </a:tc>
              </a:tr>
              <a:tr h="360360"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Vitest</a:t>
                      </a:r>
                      <a:endParaRPr b="0" lang="en-NG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Testing framework used to write and run automated tests</a:t>
                      </a:r>
                      <a:endParaRPr b="0" lang="en-NG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</a:tr>
              <a:tr h="359280"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Postman</a:t>
                      </a:r>
                      <a:endParaRPr b="0" lang="en-NG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6e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API clieny used for manual endpoint testing</a:t>
                      </a:r>
                      <a:endParaRPr b="0" lang="en-NG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6e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2376000" y="216000"/>
            <a:ext cx="532800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0" lang="en-NG" sz="3300" spc="-1" strike="noStrike">
                <a:solidFill>
                  <a:srgbClr val="ffffff"/>
                </a:solidFill>
                <a:latin typeface="Arial"/>
              </a:rPr>
              <a:t>Architecture – MVC Pattern</a:t>
            </a:r>
            <a:endParaRPr b="0" lang="en-NG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68000"/>
            <a:ext cx="9072000" cy="379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4133"/>
          </a:bodyPr>
          <a:p>
            <a:pPr marL="432000" indent="0">
              <a:spcAft>
                <a:spcPts val="1060"/>
              </a:spcAft>
              <a:buNone/>
            </a:pP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0">
              <a:spcAft>
                <a:spcPts val="1060"/>
              </a:spcAft>
              <a:buNone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The project follows the MVC (Model-View-Controller) architectural pattern, adapted for an API (no “view” layer since this is a backend-only service returning JSON):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-324000">
              <a:spcAft>
                <a:spcPts val="106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Model / Data layer – handles how the data is stored and retrieved (database + repository)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-324000">
              <a:spcAft>
                <a:spcPts val="106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Controller – contains the logic for handling each request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-324000">
              <a:spcAft>
                <a:spcPts val="106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Routes – map incoming HTTP requests to the correct controller function.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0">
              <a:spcAft>
                <a:spcPts val="1060"/>
              </a:spcAft>
              <a:buNone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This separation keeps each part of the codebase focused on a songle responsibility, making the project easier for multiple people to work on sumultaneously without conflicts.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2376000" y="216000"/>
            <a:ext cx="532800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0" lang="en-NG" sz="3300" spc="-1" strike="noStrike">
                <a:solidFill>
                  <a:srgbClr val="ffffff"/>
                </a:solidFill>
                <a:latin typeface="Arial"/>
              </a:rPr>
              <a:t>ARCHITECTURE GOAL</a:t>
            </a:r>
            <a:endParaRPr b="0" lang="en-NG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ubTitle"/>
          </p:nvPr>
        </p:nvSpPr>
        <p:spPr>
          <a:xfrm>
            <a:off x="504000" y="1368000"/>
            <a:ext cx="9072000" cy="379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NG" sz="3200" spc="-1" strike="noStrike">
                <a:solidFill>
                  <a:srgbClr val="ffffff"/>
                </a:solidFill>
                <a:latin typeface="Arial"/>
              </a:rPr>
              <a:t>Clean separation of concerns with predictable endpoint routing and robust JSON payload parsing.</a:t>
            </a:r>
            <a:endParaRPr b="0" lang="en-NG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2376000" y="216000"/>
            <a:ext cx="532800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1" lang="en-NG" sz="2800" spc="-1" strike="noStrike">
                <a:solidFill>
                  <a:srgbClr val="ffffff"/>
                </a:solidFill>
                <a:latin typeface="Arial"/>
              </a:rPr>
              <a:t>DEVELOPMENT</a:t>
            </a:r>
            <a:r>
              <a:rPr b="0" lang="en-NG" sz="33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1" lang="en-NG" sz="2800" spc="-1" strike="noStrike">
                <a:solidFill>
                  <a:srgbClr val="ffffff"/>
                </a:solidFill>
                <a:latin typeface="Arial"/>
              </a:rPr>
              <a:t>PROCESS</a:t>
            </a:r>
            <a:r>
              <a:rPr b="0" lang="en-NG" sz="3300" spc="-1" strike="noStrike">
                <a:solidFill>
                  <a:srgbClr val="ffffff"/>
                </a:solidFill>
                <a:latin typeface="Arial"/>
              </a:rPr>
              <a:t> </a:t>
            </a:r>
            <a:endParaRPr b="0" lang="en-NG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504000" y="1368000"/>
            <a:ext cx="9072000" cy="379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465" lnSpcReduction="10000"/>
          </a:bodyPr>
          <a:p>
            <a:pPr marL="432000" indent="0">
              <a:spcAft>
                <a:spcPts val="1060"/>
              </a:spcAft>
              <a:buNone/>
            </a:pP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0">
              <a:spcAft>
                <a:spcPts val="1332"/>
              </a:spcAft>
              <a:buNone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1. </a:t>
            </a:r>
            <a:r>
              <a:rPr b="0" lang="en-NG" sz="2400" spc="-1" strike="noStrike" u="sng">
                <a:solidFill>
                  <a:srgbClr val="ffffff"/>
                </a:solidFill>
                <a:uFillTx/>
                <a:latin typeface="Arial"/>
              </a:rPr>
              <a:t>Project scaffolding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 – 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created the starter folders 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( controllers, middlewares, 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routes, etc ) following the 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MVC architecture.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0">
              <a:spcAft>
                <a:spcPts val="1332"/>
              </a:spcAft>
              <a:buNone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2. </a:t>
            </a:r>
            <a:r>
              <a:rPr b="0" lang="en-NG" sz="2400" spc="-1" strike="noStrike" u="sng">
                <a:solidFill>
                  <a:srgbClr val="ffffff"/>
                </a:solidFill>
                <a:uFillTx/>
                <a:latin typeface="Arial"/>
              </a:rPr>
              <a:t>Package installation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 – 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installed Express, dotenv, 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CORS, helmet and better-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sqlite3.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0">
              <a:spcAft>
                <a:spcPts val="1616"/>
              </a:spcAft>
              <a:buNone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3. </a:t>
            </a:r>
            <a:r>
              <a:rPr b="0" lang="en-NG" sz="2400" spc="-1" strike="noStrike" u="sng">
                <a:solidFill>
                  <a:srgbClr val="ffffff"/>
                </a:solidFill>
                <a:uFillTx/>
                <a:latin typeface="Arial"/>
              </a:rPr>
              <a:t>Database &amp; repository </a:t>
            </a:r>
            <a:r>
              <a:rPr b="0" lang="en-NG" sz="2400" spc="-1" strike="noStrike" u="sng">
                <a:solidFill>
                  <a:srgbClr val="ffffff"/>
                </a:solidFill>
                <a:uFillTx/>
                <a:latin typeface="Arial"/>
              </a:rPr>
              <a:t>setup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 – created the SQLite 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database connection and the 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repository layer(note.repo.js) 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containing the core data 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functions.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0">
              <a:spcAft>
                <a:spcPts val="1332"/>
              </a:spcAft>
              <a:buNone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4. </a:t>
            </a:r>
            <a:r>
              <a:rPr b="0" lang="en-NG" sz="2400" spc="-1" strike="noStrike" u="sng">
                <a:solidFill>
                  <a:srgbClr val="ffffff"/>
                </a:solidFill>
                <a:uFillTx/>
                <a:latin typeface="Arial"/>
              </a:rPr>
              <a:t>Repository documentation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– created noteRepo – api – 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reference.md, documenting 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the repository’s expose the 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functions for the rest of the 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team to reference while 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building the controllers.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0">
              <a:spcAft>
                <a:spcPts val="1060"/>
              </a:spcAft>
              <a:buNone/>
            </a:pP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2376000" y="216000"/>
            <a:ext cx="532800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1" lang="en-NG" sz="2800" spc="-1" strike="noStrike">
                <a:solidFill>
                  <a:srgbClr val="ffffff"/>
                </a:solidFill>
                <a:latin typeface="Arial"/>
              </a:rPr>
              <a:t>DEVELOPMENT</a:t>
            </a:r>
            <a:r>
              <a:rPr b="0" lang="en-NG" sz="33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1" lang="en-NG" sz="2800" spc="-1" strike="noStrike">
                <a:solidFill>
                  <a:srgbClr val="ffffff"/>
                </a:solidFill>
                <a:latin typeface="Arial"/>
              </a:rPr>
              <a:t>PROCESS</a:t>
            </a:r>
            <a:endParaRPr b="0" lang="en-NG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504000" y="1368000"/>
            <a:ext cx="9072000" cy="379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0">
              <a:spcAft>
                <a:spcPts val="1060"/>
              </a:spcAft>
              <a:buNone/>
            </a:pP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0">
              <a:spcAft>
                <a:spcPts val="1332"/>
              </a:spcAft>
              <a:buNone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5. </a:t>
            </a:r>
            <a:r>
              <a:rPr b="0" lang="en-NG" sz="2400" spc="-1" strike="noStrike" u="sng">
                <a:solidFill>
                  <a:srgbClr val="ffffff"/>
                </a:solidFill>
                <a:uFillTx/>
                <a:latin typeface="Arial"/>
              </a:rPr>
              <a:t>Repository testing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 – Wrote automated tests to verify the 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repository functions worked correctly.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0">
              <a:spcAft>
                <a:spcPts val="1332"/>
              </a:spcAft>
              <a:buNone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6. </a:t>
            </a:r>
            <a:r>
              <a:rPr b="0" lang="en-NG" sz="2400" spc="-1" strike="noStrike" u="sng">
                <a:solidFill>
                  <a:srgbClr val="ffffff"/>
                </a:solidFill>
                <a:uFillTx/>
                <a:latin typeface="Arial"/>
              </a:rPr>
              <a:t>Validation middleware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 – Built middleware to check incoming 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request, ensuring they included the correct headers, body and 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required data before being processed.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0">
              <a:spcAft>
                <a:spcPts val="1332"/>
              </a:spcAft>
              <a:buNone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7. </a:t>
            </a:r>
            <a:r>
              <a:rPr b="0" lang="en-NG" sz="2400" spc="-1" strike="noStrike" u="sng">
                <a:solidFill>
                  <a:srgbClr val="ffffff"/>
                </a:solidFill>
                <a:uFillTx/>
                <a:latin typeface="Arial"/>
              </a:rPr>
              <a:t>GET route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 – Implemented the route to fetch notes.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0">
              <a:spcAft>
                <a:spcPts val="1060"/>
              </a:spcAft>
              <a:buNone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8. </a:t>
            </a:r>
            <a:r>
              <a:rPr b="0" lang="en-NG" sz="2400" spc="-1" strike="noStrike" u="sng">
                <a:solidFill>
                  <a:srgbClr val="ffffff"/>
                </a:solidFill>
                <a:uFillTx/>
                <a:latin typeface="Arial"/>
              </a:rPr>
              <a:t>DELETE route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 – Implemented  the route to remove notes.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2376000" y="216000"/>
            <a:ext cx="532800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1" lang="en-NG" sz="2800" spc="-1" strike="noStrike">
                <a:solidFill>
                  <a:srgbClr val="ffffff"/>
                </a:solidFill>
                <a:latin typeface="Arial"/>
              </a:rPr>
              <a:t>DEVELOPMENT</a:t>
            </a:r>
            <a:r>
              <a:rPr b="0" lang="en-NG" sz="28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1" lang="en-NG" sz="2800" spc="-1" strike="noStrike">
                <a:solidFill>
                  <a:srgbClr val="ffffff"/>
                </a:solidFill>
                <a:latin typeface="Arial"/>
              </a:rPr>
              <a:t>PROCESS</a:t>
            </a:r>
            <a:endParaRPr b="0" lang="en-NG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504000" y="1368000"/>
            <a:ext cx="9072000" cy="379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0">
              <a:spcAft>
                <a:spcPts val="1060"/>
              </a:spcAft>
              <a:buNone/>
            </a:pP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0">
              <a:spcAft>
                <a:spcPts val="1060"/>
              </a:spcAft>
              <a:buNone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9. </a:t>
            </a:r>
            <a:r>
              <a:rPr b="0" lang="en-NG" sz="2400" spc="-1" strike="noStrike" u="sng">
                <a:solidFill>
                  <a:srgbClr val="ffffff"/>
                </a:solidFill>
                <a:uFillTx/>
                <a:latin typeface="Arial"/>
              </a:rPr>
              <a:t>Route testing (phase 1)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 – Wrote tests covering the GET and DELETE routes.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0">
              <a:spcAft>
                <a:spcPts val="1060"/>
              </a:spcAft>
              <a:buNone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10. </a:t>
            </a:r>
            <a:r>
              <a:rPr b="0" lang="en-NG" sz="2400" spc="-1" strike="noStrike" u="sng">
                <a:solidFill>
                  <a:srgbClr val="ffffff"/>
                </a:solidFill>
                <a:uFillTx/>
                <a:latin typeface="Arial"/>
              </a:rPr>
              <a:t>POST and PUT routes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 – implemented the routes for creating and updating notes.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0">
              <a:spcAft>
                <a:spcPts val="1060"/>
              </a:spcAft>
              <a:buNone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11. </a:t>
            </a:r>
            <a:r>
              <a:rPr b="0" lang="en-NG" sz="2400" spc="-1" strike="noStrike" u="sng">
                <a:solidFill>
                  <a:srgbClr val="ffffff"/>
                </a:solidFill>
                <a:uFillTx/>
                <a:latin typeface="Arial"/>
              </a:rPr>
              <a:t>Route testing (phase 2)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 – Wrote tests covering all remaining routes.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0">
              <a:spcAft>
                <a:spcPts val="1060"/>
              </a:spcAft>
              <a:buNone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12. </a:t>
            </a:r>
            <a:r>
              <a:rPr b="0" lang="en-NG" sz="2400" spc="-1" strike="noStrike" u="sng">
                <a:solidFill>
                  <a:srgbClr val="ffffff"/>
                </a:solidFill>
                <a:uFillTx/>
                <a:latin typeface="Arial"/>
              </a:rPr>
              <a:t>404 middleware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 – Implemented handling for requests to routes that don’t exist.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2376000" y="216000"/>
            <a:ext cx="532800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1" lang="en-NG" sz="2800" spc="-1" strike="noStrike">
                <a:solidFill>
                  <a:srgbClr val="ffffff"/>
                </a:solidFill>
                <a:latin typeface="Arial"/>
              </a:rPr>
              <a:t>DEVELOPMENT</a:t>
            </a:r>
            <a:r>
              <a:rPr b="0" lang="en-NG" sz="33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1" lang="en-NG" sz="2800" spc="-1" strike="noStrike">
                <a:solidFill>
                  <a:srgbClr val="ffffff"/>
                </a:solidFill>
                <a:latin typeface="Arial"/>
              </a:rPr>
              <a:t>PROCESS</a:t>
            </a:r>
            <a:endParaRPr b="0" lang="en-NG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504000" y="1368000"/>
            <a:ext cx="9072000" cy="379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0">
              <a:spcAft>
                <a:spcPts val="1060"/>
              </a:spcAft>
              <a:buNone/>
            </a:pP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0">
              <a:spcAft>
                <a:spcPts val="1060"/>
              </a:spcAft>
              <a:buNone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13. </a:t>
            </a:r>
            <a:r>
              <a:rPr b="0" lang="en-NG" sz="2400" spc="-1" strike="noStrike" u="sng">
                <a:solidFill>
                  <a:srgbClr val="ffffff"/>
                </a:solidFill>
                <a:uFillTx/>
                <a:latin typeface="Arial"/>
              </a:rPr>
              <a:t>Code cleanup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 – Reviewed and cleaned the codebase to eliminate errors and bugs.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0">
              <a:spcAft>
                <a:spcPts val="1060"/>
              </a:spcAft>
              <a:buNone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14. </a:t>
            </a:r>
            <a:r>
              <a:rPr b="0" lang="en-NG" sz="2400" spc="-1" strike="noStrike" u="sng">
                <a:solidFill>
                  <a:srgbClr val="ffffff"/>
                </a:solidFill>
                <a:uFillTx/>
                <a:latin typeface="Arial"/>
              </a:rPr>
              <a:t>Final testing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 – Ran the full automated test suite (vitest) and manually verified endpoints using postman, confirming everything passed before considering to build stable.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0">
              <a:spcAft>
                <a:spcPts val="1060"/>
              </a:spcAft>
              <a:buNone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15. </a:t>
            </a:r>
            <a:r>
              <a:rPr b="0" lang="en-NG" sz="2400" spc="-1" strike="noStrike" u="sng">
                <a:solidFill>
                  <a:srgbClr val="ffffff"/>
                </a:solidFill>
                <a:uFillTx/>
                <a:latin typeface="Arial"/>
              </a:rPr>
              <a:t>API documentation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 – Created API.md after project completion, documenting the first finished API for anyone consuming or reviewing it.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2376000" y="216000"/>
            <a:ext cx="532800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1" lang="en-NG" sz="2600" spc="-1" strike="noStrike">
                <a:solidFill>
                  <a:srgbClr val="ffffff"/>
                </a:solidFill>
                <a:latin typeface="Arial"/>
              </a:rPr>
              <a:t>API TESTING COVERAGE</a:t>
            </a:r>
            <a:endParaRPr b="1" lang="en-NG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504000" y="1368000"/>
            <a:ext cx="4426920" cy="181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0">
              <a:spcAft>
                <a:spcPts val="1049"/>
              </a:spcAft>
              <a:buNone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    </a:t>
            </a:r>
            <a:r>
              <a:rPr b="1" lang="en-NG" sz="2400" spc="-1" strike="noStrike">
                <a:solidFill>
                  <a:srgbClr val="ffffff"/>
                </a:solidFill>
                <a:latin typeface="Arial"/>
              </a:rPr>
              <a:t>100% Pass rate.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0">
              <a:spcAft>
                <a:spcPts val="1049"/>
              </a:spcAft>
              <a:buNone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Full CRUD endpoint verification using Postman automated suites.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/>
          </p:nvPr>
        </p:nvSpPr>
        <p:spPr>
          <a:xfrm>
            <a:off x="5152680" y="1368000"/>
            <a:ext cx="4426920" cy="379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0">
              <a:spcAft>
                <a:spcPts val="1060"/>
              </a:spcAft>
              <a:buNone/>
            </a:pPr>
            <a:r>
              <a:rPr b="1" lang="en-NG" sz="2400" spc="-1" strike="noStrike">
                <a:solidFill>
                  <a:srgbClr val="ffffff"/>
                </a:solidFill>
                <a:latin typeface="Arial"/>
              </a:rPr>
              <a:t>Multi-scenario validation</a:t>
            </a:r>
            <a:endParaRPr b="1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0">
              <a:spcAft>
                <a:spcPts val="1060"/>
              </a:spcAft>
              <a:buNone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All endpoints tested for expected JSON body responses and non – existent recordhandling (404).</a:t>
            </a:r>
            <a:endParaRPr b="1" lang="en-NG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/>
          </p:nvPr>
        </p:nvSpPr>
        <p:spPr>
          <a:xfrm>
            <a:off x="504000" y="3351600"/>
            <a:ext cx="4426920" cy="181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628"/>
          </a:bodyPr>
          <a:p>
            <a:pPr marL="432000" indent="0">
              <a:spcAft>
                <a:spcPts val="1060"/>
              </a:spcAft>
              <a:buNone/>
            </a:pPr>
            <a:r>
              <a:rPr b="1" lang="en-NG" sz="2400" spc="-1" strike="noStrike">
                <a:solidFill>
                  <a:srgbClr val="ffffff"/>
                </a:solidFill>
                <a:latin typeface="Arial"/>
              </a:rPr>
              <a:t>Payload &amp; status checks</a:t>
            </a:r>
            <a:endParaRPr b="1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0">
              <a:spcAft>
                <a:spcPts val="1060"/>
              </a:spcAft>
              <a:buNone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Validates payload requirements (400) and successful CRUD operations (200/201)</a:t>
            </a:r>
            <a:endParaRPr b="1" lang="en-NG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2376000" y="216000"/>
            <a:ext cx="532800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1" lang="en-NG" sz="2200" spc="-1" strike="noStrike">
                <a:solidFill>
                  <a:srgbClr val="ffffff"/>
                </a:solidFill>
                <a:latin typeface="Arial"/>
              </a:rPr>
              <a:t>QUALITY ASSURANCE WORKFLOW</a:t>
            </a:r>
            <a:endParaRPr b="1" lang="en-NG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504000" y="1368000"/>
            <a:ext cx="4426920" cy="181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Aft>
                <a:spcPts val="106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1" i="1" lang="en-NG" sz="2400" spc="-1" strike="noStrike">
                <a:solidFill>
                  <a:srgbClr val="ffffff"/>
                </a:solidFill>
                <a:latin typeface="Arial"/>
              </a:rPr>
              <a:t>Happy path validation</a:t>
            </a:r>
            <a:endParaRPr b="0" i="1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0">
              <a:spcAft>
                <a:spcPts val="1060"/>
              </a:spcAft>
              <a:buNone/>
            </a:pPr>
            <a:r>
              <a:rPr b="0" lang="en-NG" sz="2000" spc="-1" strike="noStrike">
                <a:solidFill>
                  <a:srgbClr val="ffffff"/>
                </a:solidFill>
                <a:latin typeface="Arial"/>
              </a:rPr>
              <a:t>Confirms correct response schemes and data persistence across create, read, update, and delete calls.</a:t>
            </a:r>
            <a:endParaRPr b="0" i="1" lang="en-NG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/>
          </p:nvPr>
        </p:nvSpPr>
        <p:spPr>
          <a:xfrm>
            <a:off x="5152680" y="1368000"/>
            <a:ext cx="4426920" cy="181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Aft>
                <a:spcPts val="106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1" i="1" lang="en-NG" sz="2400" spc="-1" strike="noStrike">
                <a:solidFill>
                  <a:srgbClr val="ffffff"/>
                </a:solidFill>
                <a:latin typeface="Arial"/>
              </a:rPr>
              <a:t>Postman Artifact Export</a:t>
            </a:r>
            <a:endParaRPr b="1" i="1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0">
              <a:spcAft>
                <a:spcPts val="1060"/>
              </a:spcAft>
              <a:buNone/>
            </a:pPr>
            <a:r>
              <a:rPr b="0" lang="en-NG" sz="2200" spc="-1" strike="noStrike">
                <a:solidFill>
                  <a:srgbClr val="ffffff"/>
                </a:solidFill>
                <a:latin typeface="Arial"/>
              </a:rPr>
              <a:t>Export Postman Collecton v2.1 </a:t>
            </a:r>
            <a:r>
              <a:rPr b="0" lang="en-NG" sz="2200" spc="-1" strike="noStrike">
                <a:solidFill>
                  <a:srgbClr val="ffffff"/>
                </a:solidFill>
                <a:latin typeface="Arial"/>
              </a:rPr>
              <a:t>into the postman/ repostory </a:t>
            </a:r>
            <a:r>
              <a:rPr b="0" lang="en-NG" sz="2200" spc="-1" strike="noStrike">
                <a:solidFill>
                  <a:srgbClr val="ffffff"/>
                </a:solidFill>
                <a:latin typeface="Arial"/>
              </a:rPr>
              <a:t>directory for team replication</a:t>
            </a:r>
            <a:endParaRPr b="1" i="1" lang="en-NG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/>
          </p:nvPr>
        </p:nvSpPr>
        <p:spPr>
          <a:xfrm>
            <a:off x="504000" y="3351600"/>
            <a:ext cx="4426920" cy="181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Aft>
                <a:spcPts val="106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1" i="1" lang="en-NG" sz="2400" spc="-1" strike="noStrike">
                <a:solidFill>
                  <a:srgbClr val="ffffff"/>
                </a:solidFill>
                <a:latin typeface="Arial"/>
              </a:rPr>
              <a:t>Error &amp; Edge Handling</a:t>
            </a:r>
            <a:endParaRPr b="1" i="1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0">
              <a:spcAft>
                <a:spcPts val="1060"/>
              </a:spcAft>
              <a:buNone/>
            </a:pPr>
            <a:r>
              <a:rPr b="0" lang="en-NG" sz="2000" spc="-1" strike="noStrike">
                <a:solidFill>
                  <a:srgbClr val="ffffff"/>
                </a:solidFill>
                <a:latin typeface="Arial"/>
              </a:rPr>
              <a:t>Ensures invalid input payloada or </a:t>
            </a:r>
            <a:r>
              <a:rPr b="0" lang="en-NG" sz="2000" spc="-1" strike="noStrike">
                <a:solidFill>
                  <a:srgbClr val="ffffff"/>
                </a:solidFill>
                <a:latin typeface="Arial"/>
              </a:rPr>
              <a:t>missing resource Ids return </a:t>
            </a:r>
            <a:r>
              <a:rPr b="0" lang="en-NG" sz="2000" spc="-1" strike="noStrike">
                <a:solidFill>
                  <a:srgbClr val="ffffff"/>
                </a:solidFill>
                <a:latin typeface="Arial"/>
              </a:rPr>
              <a:t>predictable HTTP status codes.</a:t>
            </a:r>
            <a:endParaRPr b="1" i="1" lang="en-NG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/>
          </p:nvPr>
        </p:nvSpPr>
        <p:spPr>
          <a:xfrm>
            <a:off x="5152680" y="3351600"/>
            <a:ext cx="4426920" cy="181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Aft>
                <a:spcPts val="106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1" i="1" lang="en-NG" sz="2400" spc="-1" strike="noStrike">
                <a:solidFill>
                  <a:srgbClr val="ffffff"/>
                </a:solidFill>
                <a:latin typeface="Arial"/>
              </a:rPr>
              <a:t>Environment Syncing</a:t>
            </a:r>
            <a:endParaRPr b="1" i="1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0">
              <a:spcAft>
                <a:spcPts val="1060"/>
              </a:spcAft>
              <a:buNone/>
            </a:pPr>
            <a:r>
              <a:rPr b="0" lang="en-NG" sz="2000" spc="-1" strike="noStrike">
                <a:solidFill>
                  <a:srgbClr val="ffffff"/>
                </a:solidFill>
                <a:latin typeface="Arial"/>
              </a:rPr>
              <a:t>Managed variable base URLs to easily run tests across local development environments.</a:t>
            </a:r>
            <a:endParaRPr b="1" i="1" lang="en-NG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2376000" y="216000"/>
            <a:ext cx="532800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1" lang="en-NG" sz="2400" spc="-1" strike="noStrike">
                <a:solidFill>
                  <a:srgbClr val="ffffff"/>
                </a:solidFill>
                <a:latin typeface="Arial"/>
              </a:rPr>
              <a:t>API ENDPOINTS</a:t>
            </a:r>
            <a:endParaRPr b="1" lang="en-NG" sz="24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51" name=""/>
          <p:cNvGraphicFramePr/>
          <p:nvPr/>
        </p:nvGraphicFramePr>
        <p:xfrm>
          <a:off x="569160" y="1844280"/>
          <a:ext cx="9071640" cy="3015720"/>
        </p:xfrm>
        <a:graphic>
          <a:graphicData uri="http://schemas.openxmlformats.org/drawingml/2006/table">
            <a:tbl>
              <a:tblPr/>
              <a:tblGrid>
                <a:gridCol w="3024000"/>
                <a:gridCol w="3024000"/>
                <a:gridCol w="3024000"/>
              </a:tblGrid>
              <a:tr h="502200"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        </a:t>
                      </a:r>
                      <a:r>
                        <a:rPr b="0" lang="en-NG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  <a:endParaRPr b="0" lang="en-NG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5983b0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      </a:t>
                      </a:r>
                      <a:r>
                        <a:rPr b="0" lang="en-NG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Endpoint</a:t>
                      </a:r>
                      <a:endParaRPr b="0" lang="en-NG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5983b0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      </a:t>
                      </a:r>
                      <a:r>
                        <a:rPr b="0" lang="en-NG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Description</a:t>
                      </a:r>
                      <a:endParaRPr b="0" lang="en-NG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5983b0"/>
                    </a:solidFill>
                  </a:tcPr>
                </a:tc>
              </a:tr>
              <a:tr h="502200"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POST</a:t>
                      </a:r>
                      <a:endParaRPr b="0" lang="en-NG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/notes</a:t>
                      </a:r>
                      <a:endParaRPr b="0" lang="en-NG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Create a new note</a:t>
                      </a:r>
                      <a:endParaRPr b="0" lang="en-NG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</a:tr>
              <a:tr h="502200"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GET</a:t>
                      </a:r>
                      <a:endParaRPr b="0" lang="en-NG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6e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/notes</a:t>
                      </a:r>
                      <a:endParaRPr b="0" lang="en-NG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6e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Retrieve all notes</a:t>
                      </a:r>
                      <a:endParaRPr b="0" lang="en-NG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6ef"/>
                    </a:solidFill>
                  </a:tcPr>
                </a:tc>
              </a:tr>
              <a:tr h="502200"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GET</a:t>
                      </a:r>
                      <a:endParaRPr b="0" lang="en-NG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/notes/:id</a:t>
                      </a:r>
                      <a:endParaRPr b="0" lang="en-NG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Retrieve a single note by ID</a:t>
                      </a:r>
                      <a:endParaRPr b="0" lang="en-NG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</a:tr>
              <a:tr h="502200"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PUT</a:t>
                      </a:r>
                      <a:endParaRPr b="0" lang="en-NG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6e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/notes/:id</a:t>
                      </a:r>
                      <a:endParaRPr b="0" lang="en-NG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6e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Update an existing note</a:t>
                      </a:r>
                      <a:endParaRPr b="0" lang="en-NG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6ef"/>
                    </a:solidFill>
                  </a:tcPr>
                </a:tc>
              </a:tr>
              <a:tr h="504720"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DELETE</a:t>
                      </a:r>
                      <a:endParaRPr b="0" lang="en-NG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/notes/:id</a:t>
                      </a:r>
                      <a:endParaRPr b="0" lang="en-NG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>
                        <a:buNone/>
                      </a:pPr>
                      <a:r>
                        <a:rPr b="0" lang="en-NG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Delete a note</a:t>
                      </a:r>
                      <a:endParaRPr b="0" lang="en-NG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2376000" y="216000"/>
            <a:ext cx="532800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1" lang="en-NG" sz="3300" spc="-1" strike="noStrike">
                <a:solidFill>
                  <a:srgbClr val="ffffff"/>
                </a:solidFill>
                <a:latin typeface="Arial"/>
              </a:rPr>
              <a:t>TESTING STRATEGY</a:t>
            </a:r>
            <a:endParaRPr b="1" lang="en-NG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468000" y="1080000"/>
            <a:ext cx="9072000" cy="379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713" lnSpcReduction="10000"/>
          </a:bodyPr>
          <a:p>
            <a:pPr marL="432000" indent="0">
              <a:spcAft>
                <a:spcPts val="1060"/>
              </a:spcAft>
              <a:buNone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T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esting was carried out in two ways :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0">
              <a:spcAft>
                <a:spcPts val="1060"/>
              </a:spcAft>
              <a:buNone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1. Automated tests (vitest) – covering 4 layers of the application 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separately: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-324000">
              <a:spcAft>
                <a:spcPts val="106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Repository layer( noteRepo.test.js) – verifies database 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operations woek correctly in isolation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-324000">
              <a:spcAft>
                <a:spcPts val="106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Controller layer (noteController.test.js) – Verifies request-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handling logic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-324000">
              <a:spcAft>
                <a:spcPts val="106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Route layer(noteRoute.test.js) – Verifies the full behaviour end – 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to – end.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  <a:p>
            <a:pPr marL="432000" indent="-324000">
              <a:spcAft>
                <a:spcPts val="106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Validation middleware (validation.middleware.test.js) – verifies </a:t>
            </a:r>
            <a:r>
              <a:rPr b="0" lang="en-NG" sz="2400" spc="-1" strike="noStrike">
                <a:solidFill>
                  <a:srgbClr val="ffffff"/>
                </a:solidFill>
                <a:latin typeface="Arial"/>
              </a:rPr>
              <a:t>bad/missing data is correctly rejected.</a:t>
            </a:r>
            <a:endParaRPr b="0" lang="en-NG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2376000" y="216000"/>
            <a:ext cx="532800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1" lang="en-NG" sz="3300" spc="-1" strike="noStrike">
                <a:solidFill>
                  <a:srgbClr val="ffffff"/>
                </a:solidFill>
                <a:latin typeface="Arial"/>
              </a:rPr>
              <a:t>TESTING STRATEGY</a:t>
            </a:r>
            <a:endParaRPr b="1" lang="en-NG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subTitle"/>
          </p:nvPr>
        </p:nvSpPr>
        <p:spPr>
          <a:xfrm>
            <a:off x="2252520" y="1351440"/>
            <a:ext cx="5328000" cy="33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NG" sz="2200" spc="-1" strike="noStrike">
              <a:solidFill>
                <a:srgbClr val="ffffff"/>
              </a:solidFill>
              <a:latin typeface="Arial"/>
            </a:endParaRPr>
          </a:p>
          <a:p>
            <a:pPr indent="0" algn="ctr">
              <a:buNone/>
            </a:pPr>
            <a:r>
              <a:rPr b="0" lang="en-NG" sz="2200" spc="-1" strike="noStrike">
                <a:solidFill>
                  <a:srgbClr val="ffffff"/>
                </a:solidFill>
                <a:latin typeface="Arial"/>
              </a:rPr>
              <a:t>2</a:t>
            </a:r>
            <a:r>
              <a:rPr b="0" lang="en-NG" sz="2200" spc="-1" strike="noStrike">
                <a:solidFill>
                  <a:srgbClr val="ffffff"/>
                </a:solidFill>
                <a:latin typeface="Arial"/>
              </a:rPr>
              <a:t>. Manual testing (Postman) – used as an API client to manually send requests to each endpoint and confirm real – world behaviour alongside the automated tests.</a:t>
            </a:r>
            <a:endParaRPr b="0" lang="en-NG" sz="2200" spc="-1" strike="noStrike">
              <a:solidFill>
                <a:srgbClr val="ffffff"/>
              </a:solidFill>
              <a:latin typeface="Arial"/>
            </a:endParaRPr>
          </a:p>
          <a:p>
            <a:pPr indent="0" algn="ctr">
              <a:buNone/>
            </a:pPr>
            <a:r>
              <a:rPr b="0" lang="en-NG" sz="2200" spc="-1" strike="noStrike">
                <a:solidFill>
                  <a:srgbClr val="ffffff"/>
                </a:solidFill>
                <a:latin typeface="Arial"/>
              </a:rPr>
              <a:t>The combined approach ensures that both individual pieces of code work correctly ( automated tests) and that the API behaves as expected when used the way a real client would use it. (Postman).</a:t>
            </a:r>
            <a:endParaRPr b="0" lang="en-NG" sz="2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2376000" y="216000"/>
            <a:ext cx="532800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1" lang="en-NG" sz="3300" spc="-1" strike="noStrike">
                <a:solidFill>
                  <a:srgbClr val="ffffff"/>
                </a:solidFill>
                <a:latin typeface="Arial"/>
              </a:rPr>
              <a:t>DEPLOYMENT STATUS</a:t>
            </a:r>
            <a:endParaRPr b="1" lang="en-NG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ubTitle"/>
          </p:nvPr>
        </p:nvSpPr>
        <p:spPr>
          <a:xfrm>
            <a:off x="2412000" y="1521360"/>
            <a:ext cx="5328000" cy="33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NG" sz="3200" spc="-1" strike="noStrike">
                <a:solidFill>
                  <a:srgbClr val="ffffff"/>
                </a:solidFill>
                <a:latin typeface="Arial"/>
              </a:rPr>
              <a:t>The project has not yet been deployed. It currently runs locally during development and testing.</a:t>
            </a:r>
            <a:endParaRPr b="0" lang="en-NG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2376000" y="216000"/>
            <a:ext cx="532800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buNone/>
            </a:pPr>
            <a:r>
              <a:rPr b="1" lang="en-NG" sz="2800" spc="-1" strike="noStrike">
                <a:solidFill>
                  <a:srgbClr val="ffffff"/>
                </a:solidFill>
                <a:latin typeface="Arial"/>
              </a:rPr>
              <a:t>TEAM COLLABORATION</a:t>
            </a:r>
            <a:endParaRPr b="1" lang="en-NG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subTitle"/>
          </p:nvPr>
        </p:nvSpPr>
        <p:spPr>
          <a:xfrm>
            <a:off x="504000" y="1368000"/>
            <a:ext cx="9072000" cy="379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NG" sz="2800" spc="-1" strike="noStrike">
                <a:solidFill>
                  <a:srgbClr val="ffffff"/>
                </a:solidFill>
                <a:latin typeface="Arial"/>
              </a:rPr>
              <a:t>The team used Git and GitHub for version control, with each contributor working on a separate branch before re merging changes via pull requests. A changelog is maintained in the README, where every contributor logs their name, ID and a summary of the changes they made , giving a transparent history of who built what.</a:t>
            </a:r>
            <a:endParaRPr b="0" lang="en-NG" sz="2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subTitle"/>
          </p:nvPr>
        </p:nvSpPr>
        <p:spPr>
          <a:xfrm>
            <a:off x="2340000" y="261360"/>
            <a:ext cx="5328000" cy="33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NG" sz="3200" spc="-1" strike="noStrike">
                <a:solidFill>
                  <a:srgbClr val="ffffff"/>
                </a:solidFill>
                <a:latin typeface="Arial"/>
              </a:rPr>
              <a:t>Thank you for viewing the Group 4 presentation</a:t>
            </a:r>
            <a:r>
              <a:rPr b="0" lang="en-NG" sz="3200" spc="-1" strike="noStrike">
                <a:solidFill>
                  <a:srgbClr val="ffffff"/>
                </a:solidFill>
                <a:latin typeface="Arial"/>
              </a:rPr>
              <a:t>.</a:t>
            </a:r>
            <a:endParaRPr b="0" lang="en-NG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2026-09-30T10:20:44Z</dcterms:created>
  <dc:creator/>
  <dc:description/>
  <dc:language>en-NG</dc:language>
  <cp:lastModifiedBy/>
  <dcterms:modified xsi:type="dcterms:W3CDTF">2026-09-30T23:36:10Z</dcterms:modified>
  <cp:revision>4</cp:revision>
  <dc:subject/>
  <dc:title>Metropolis</dc:title>
</cp:coreProperties>
</file>